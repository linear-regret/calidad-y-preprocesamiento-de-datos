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2000"/>
  <p:notesSz cx="6858000" cy="9144000"/>
  <p:embeddedFontLst>
    <p:embeddedFont>
      <p:font typeface="Roboto Mon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ctvRCpd0qz1ExNxEsTuG0ZEGi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obotoMono-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Mono-italic.fntdata"/><Relationship Id="rId10" Type="http://schemas.openxmlformats.org/officeDocument/2006/relationships/slide" Target="slides/slide5.xml"/><Relationship Id="rId54" Type="http://schemas.openxmlformats.org/officeDocument/2006/relationships/font" Target="fonts/RobotoMono-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RobotoMon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MX">
                <a:solidFill>
                  <a:schemeClr val="dk1"/>
                </a:solidFill>
              </a:rPr>
              <a:t>Qué significa que los datos sean heterogéneos: Que los datos </a:t>
            </a:r>
            <a:r>
              <a:rPr b="1" lang="es-MX">
                <a:solidFill>
                  <a:schemeClr val="dk1"/>
                </a:solidFill>
              </a:rPr>
              <a:t>no comparten supuestos</a:t>
            </a:r>
            <a:r>
              <a:rPr lang="es-MX">
                <a:solidFill>
                  <a:schemeClr val="dk1"/>
                </a:solidFill>
              </a:rPr>
              <a:t>: ni de formato, ni de significado, ni de tiempo.</a:t>
            </a:r>
            <a:endParaRPr/>
          </a:p>
        </p:txBody>
      </p:sp>
      <p:sp>
        <p:nvSpPr>
          <p:cNvPr id="133" name="Google Shape;13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Integrar datos no es s</a:t>
            </a:r>
            <a:r>
              <a:rPr lang="es-MX"/>
              <a:t>ólo unirlos sino reinterpretarlos para un diferente uso. Veremos que la calidad de datos está vinculada con el propósito de estos datos</a:t>
            </a:r>
            <a:br>
              <a:rPr lang="es-MX"/>
            </a:br>
            <a:r>
              <a:rPr lang="es-MX"/>
              <a:t>C</a:t>
            </a:r>
            <a:r>
              <a:rPr lang="es-MX"/>
              <a:t>ómo se ve esta heterogeneidad y sus diferentes fuentes: </a:t>
            </a:r>
            <a:r>
              <a:rPr lang="es-MX"/>
              <a:t>Ir a ejemplo de INEGI. </a:t>
            </a:r>
            <a:endParaRPr/>
          </a:p>
        </p:txBody>
      </p:sp>
      <p:sp>
        <p:nvSpPr>
          <p:cNvPr id="143" name="Google Shape;14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Heterogeneidad histórica: Diversas fuentes podría significar la misma base de datos en momentos diferentes en el tiempo.</a:t>
            </a:r>
            <a:endParaRPr/>
          </a:p>
          <a:p>
            <a:pPr indent="0" lvl="0" marL="0" rtl="0" algn="l">
              <a:spcBef>
                <a:spcPts val="0"/>
              </a:spcBef>
              <a:spcAft>
                <a:spcPts val="0"/>
              </a:spcAft>
              <a:buNone/>
            </a:pPr>
            <a:r>
              <a:rPr lang="es-MX"/>
              <a:t>An</a:t>
            </a:r>
            <a:r>
              <a:rPr lang="es-MX"/>
              <a:t>álogo en lenguaje: “banco” (institución vs asiento), columna que dice ingreso y es Bruto vs neto, dice última compra </a:t>
            </a:r>
            <a:br>
              <a:rPr lang="es-MX"/>
            </a:br>
            <a:r>
              <a:rPr lang="es-MX"/>
              <a:t>Para que algo automatizado descubra que Fernando es diferente a Coca Cola se le tendr</a:t>
            </a:r>
            <a:r>
              <a:rPr lang="es-MX"/>
              <a:t>ía que poner conocimiento del mundo externo. Hay personas que tienen nombres extraños, entonces hay otras pistas. Este problema pasó en liverpool al querer integrar un RFC con una empresa, hay muchas opciones que involucran buscar en internet para encontrar matches usando criterio. Se resolvió con Gemini</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Se puede escribir c</a:t>
            </a:r>
            <a:r>
              <a:rPr lang="es-MX"/>
              <a:t>ódigo para pasar un dato de JSON a XML, Fecha YYYY-MM-DD vs DD/MM/YYYY, null a None a “”, </a:t>
            </a:r>
            <a:r>
              <a:rPr lang="es-MX">
                <a:solidFill>
                  <a:schemeClr val="dk1"/>
                </a:solidFill>
              </a:rPr>
              <a:t>CSV con </a:t>
            </a:r>
            <a:r>
              <a:rPr lang="es-MX">
                <a:solidFill>
                  <a:srgbClr val="188038"/>
                </a:solidFill>
                <a:latin typeface="Roboto Mono"/>
                <a:ea typeface="Roboto Mono"/>
                <a:cs typeface="Roboto Mono"/>
                <a:sym typeface="Roboto Mono"/>
              </a:rPr>
              <a:t>;</a:t>
            </a:r>
            <a:r>
              <a:rPr lang="es-MX">
                <a:solidFill>
                  <a:schemeClr val="dk1"/>
                </a:solidFill>
              </a:rPr>
              <a:t> vs </a:t>
            </a:r>
            <a:r>
              <a:rPr lang="es-MX">
                <a:solidFill>
                  <a:srgbClr val="188038"/>
                </a:solidFill>
                <a:latin typeface="Roboto Mono"/>
                <a:ea typeface="Roboto Mono"/>
                <a:cs typeface="Roboto Mono"/>
                <a:sym typeface="Roboto Mono"/>
              </a:rPr>
              <a:t>,</a:t>
            </a:r>
            <a:endParaRPr/>
          </a:p>
        </p:txBody>
      </p:sp>
      <p:sp>
        <p:nvSpPr>
          <p:cNvPr id="158" name="Google Shape;1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las bases vectoriales tienen estructura r</a:t>
            </a:r>
            <a:r>
              <a:rPr lang="es-MX"/>
              <a:t>ígida, pero aprendida (ejemplos FAISS)</a:t>
            </a:r>
            <a:endParaRPr/>
          </a:p>
        </p:txBody>
      </p:sp>
      <p:sp>
        <p:nvSpPr>
          <p:cNvPr id="183" name="Google Shape;1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Integrar significa copiar datos?</a:t>
            </a:r>
            <a:endParaRPr/>
          </a:p>
        </p:txBody>
      </p:sp>
      <p:sp>
        <p:nvSpPr>
          <p:cNvPr id="283" name="Google Shape;28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Tradeoff: Se vuelve r</a:t>
            </a:r>
            <a:r>
              <a:rPr lang="es-MX"/>
              <a:t>ígido, pero de acceso directo. </a:t>
            </a:r>
            <a:br>
              <a:rPr lang="es-MX"/>
            </a:br>
            <a:r>
              <a:rPr lang="es-MX"/>
              <a:t>Si no se tiene cuidado se van a hacer muchas transformaciones aun con el ETL.</a:t>
            </a:r>
            <a:endParaRPr/>
          </a:p>
        </p:txBody>
      </p:sp>
      <p:sp>
        <p:nvSpPr>
          <p:cNvPr id="293" name="Google Shape;29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63abf74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63abf74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603bd49f0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c603bd49f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Un simple inner join, se escribe la base de datos en disco</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Aunque no se resuelve f</a:t>
            </a:r>
            <a:r>
              <a:rPr lang="es-MX"/>
              <a:t>ísicamente la heterogeneidad (cada dato se escribe por si sólo), se resuelve en la capa virtual.</a:t>
            </a:r>
            <a:endParaRPr/>
          </a:p>
          <a:p>
            <a:pPr indent="0" lvl="0" marL="0" rtl="0" algn="l">
              <a:spcBef>
                <a:spcPts val="0"/>
              </a:spcBef>
              <a:spcAft>
                <a:spcPts val="0"/>
              </a:spcAft>
              <a:buNone/>
            </a:pPr>
            <a:r>
              <a:rPr lang="es-MX"/>
              <a:t>Naturalmente siempre hay un tradeoff: Acá estas procesando datos cada que los lees. Sacrificas procesamiento, pero ganas disco y flexibilidad</a:t>
            </a:r>
            <a:endParaRPr/>
          </a:p>
        </p:txBody>
      </p:sp>
      <p:sp>
        <p:nvSpPr>
          <p:cNvPr id="316" name="Google Shape;31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603bd49f0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c603bd49f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La l</a:t>
            </a:r>
            <a:r>
              <a:rPr lang="es-MX"/>
              <a:t>ínea 7 muestra la vista, después se actualiza el valor de una de las tablas originales en la línea 9. </a:t>
            </a:r>
            <a:br>
              <a:rPr lang="es-MX"/>
            </a:br>
            <a:r>
              <a:rPr lang="es-MX"/>
              <a:t>En la línea 12 este valor aún no se muestra, mientras que en la línea 13 si se muestra.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No necesariamente de cloud y on premise (infraestructura h</a:t>
            </a:r>
            <a:r>
              <a:rPr lang="es-MX"/>
              <a:t>íbrida)</a:t>
            </a:r>
            <a:r>
              <a:rPr lang="es-MX"/>
              <a:t>, sino que es</a:t>
            </a:r>
            <a:r>
              <a:rPr lang="es-MX">
                <a:solidFill>
                  <a:schemeClr val="dk1"/>
                </a:solidFill>
              </a:rPr>
              <a:t> cuando al</a:t>
            </a:r>
            <a:r>
              <a:rPr b="1" lang="es-MX">
                <a:solidFill>
                  <a:schemeClr val="dk1"/>
                </a:solidFill>
              </a:rPr>
              <a:t> menos una fuente materializada</a:t>
            </a:r>
            <a:r>
              <a:rPr lang="es-MX">
                <a:solidFill>
                  <a:schemeClr val="dk1"/>
                </a:solidFill>
              </a:rPr>
              <a:t> con </a:t>
            </a:r>
            <a:r>
              <a:rPr b="1" lang="es-MX">
                <a:solidFill>
                  <a:schemeClr val="dk1"/>
                </a:solidFill>
              </a:rPr>
              <a:t>al menos una fuente virtual</a:t>
            </a:r>
            <a:endParaRPr>
              <a:solidFill>
                <a:schemeClr val="dk1"/>
              </a:solidFill>
            </a:endParaRPr>
          </a:p>
          <a:p>
            <a:pPr indent="0" lvl="0" marL="0" rtl="0" algn="l">
              <a:spcBef>
                <a:spcPts val="0"/>
              </a:spcBef>
              <a:spcAft>
                <a:spcPts val="0"/>
              </a:spcAft>
              <a:buNone/>
            </a:pPr>
            <a:r>
              <a:rPr lang="es-MX">
                <a:solidFill>
                  <a:schemeClr val="dk1"/>
                </a:solidFill>
              </a:rPr>
              <a:t>Dashboards en looker por ejemplo</a:t>
            </a:r>
            <a:endParaRPr>
              <a:solidFill>
                <a:schemeClr val="dk1"/>
              </a:solidFill>
            </a:endParaRPr>
          </a:p>
        </p:txBody>
      </p:sp>
      <p:sp>
        <p:nvSpPr>
          <p:cNvPr id="339" name="Google Shape;33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MX"/>
              <a:t>Cu</a:t>
            </a:r>
            <a:r>
              <a:rPr lang="es-MX"/>
              <a:t>ál es la complejidad de este modelo? Cómo se puede arreglar?</a:t>
            </a:r>
            <a:endParaRPr/>
          </a:p>
        </p:txBody>
      </p:sp>
      <p:sp>
        <p:nvSpPr>
          <p:cNvPr id="360" name="Google Shape;36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4" name="Shape 14"/>
        <p:cNvGrpSpPr/>
        <p:nvPr/>
      </p:nvGrpSpPr>
      <p:grpSpPr>
        <a:xfrm>
          <a:off x="0" y="0"/>
          <a:ext cx="0" cy="0"/>
          <a:chOff x="0" y="0"/>
          <a:chExt cx="0" cy="0"/>
        </a:xfrm>
      </p:grpSpPr>
      <p:sp>
        <p:nvSpPr>
          <p:cNvPr id="15" name="Google Shape;15;p4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4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6"/>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4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cxnSp>
        <p:nvCxnSpPr>
          <p:cNvPr id="22" name="Google Shape;22;p4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lt1"/>
        </a:solidFill>
      </p:bgPr>
    </p:bg>
    <p:spTree>
      <p:nvGrpSpPr>
        <p:cNvPr id="23" name="Shape 23"/>
        <p:cNvGrpSpPr/>
        <p:nvPr/>
      </p:nvGrpSpPr>
      <p:grpSpPr>
        <a:xfrm>
          <a:off x="0" y="0"/>
          <a:ext cx="0" cy="0"/>
          <a:chOff x="0" y="0"/>
          <a:chExt cx="0" cy="0"/>
        </a:xfrm>
      </p:grpSpPr>
      <p:sp>
        <p:nvSpPr>
          <p:cNvPr id="24" name="Google Shape;24;p4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28" name="Google Shape;28;p4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cxnSp>
        <p:nvCxnSpPr>
          <p:cNvPr id="31" name="Google Shape;31;p4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2" name="Shape 32"/>
        <p:cNvGrpSpPr/>
        <p:nvPr/>
      </p:nvGrpSpPr>
      <p:grpSpPr>
        <a:xfrm>
          <a:off x="0" y="0"/>
          <a:ext cx="0" cy="0"/>
          <a:chOff x="0" y="0"/>
          <a:chExt cx="0" cy="0"/>
        </a:xfrm>
      </p:grpSpPr>
      <p:sp>
        <p:nvSpPr>
          <p:cNvPr id="33" name="Google Shape;33;p4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5" name="Google Shape;35;p4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38" name="Shape 38"/>
        <p:cNvGrpSpPr/>
        <p:nvPr/>
      </p:nvGrpSpPr>
      <p:grpSpPr>
        <a:xfrm>
          <a:off x="0" y="0"/>
          <a:ext cx="0" cy="0"/>
          <a:chOff x="0" y="0"/>
          <a:chExt cx="0" cy="0"/>
        </a:xfrm>
      </p:grpSpPr>
      <p:sp>
        <p:nvSpPr>
          <p:cNvPr id="39" name="Google Shape;39;p5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3" name="Shape 43"/>
        <p:cNvGrpSpPr/>
        <p:nvPr/>
      </p:nvGrpSpPr>
      <p:grpSpPr>
        <a:xfrm>
          <a:off x="0" y="0"/>
          <a:ext cx="0" cy="0"/>
          <a:chOff x="0" y="0"/>
          <a:chExt cx="0" cy="0"/>
        </a:xfrm>
      </p:grpSpPr>
      <p:sp>
        <p:nvSpPr>
          <p:cNvPr id="44" name="Google Shape;44;p5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2"/>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52"/>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5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0" name="Shape 50"/>
        <p:cNvGrpSpPr/>
        <p:nvPr/>
      </p:nvGrpSpPr>
      <p:grpSpPr>
        <a:xfrm>
          <a:off x="0" y="0"/>
          <a:ext cx="0" cy="0"/>
          <a:chOff x="0" y="0"/>
          <a:chExt cx="0" cy="0"/>
        </a:xfrm>
      </p:grpSpPr>
      <p:sp>
        <p:nvSpPr>
          <p:cNvPr id="51" name="Google Shape;51;p5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5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3" name="Google Shape;53;p53"/>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4" name="Google Shape;54;p5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5" name="Google Shape;55;p53"/>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5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59" name="Shape 59"/>
        <p:cNvGrpSpPr/>
        <p:nvPr/>
      </p:nvGrpSpPr>
      <p:grpSpPr>
        <a:xfrm>
          <a:off x="0" y="0"/>
          <a:ext cx="0" cy="0"/>
          <a:chOff x="0" y="0"/>
          <a:chExt cx="0" cy="0"/>
        </a:xfrm>
      </p:grpSpPr>
      <p:sp>
        <p:nvSpPr>
          <p:cNvPr id="60" name="Google Shape;60;p5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5" name="Shape 65"/>
        <p:cNvGrpSpPr/>
        <p:nvPr/>
      </p:nvGrpSpPr>
      <p:grpSpPr>
        <a:xfrm>
          <a:off x="0" y="0"/>
          <a:ext cx="0" cy="0"/>
          <a:chOff x="0" y="0"/>
          <a:chExt cx="0" cy="0"/>
        </a:xfrm>
      </p:grpSpPr>
      <p:sp>
        <p:nvSpPr>
          <p:cNvPr id="66" name="Google Shape;66;p55"/>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5"/>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5"/>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5"/>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55"/>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55"/>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4" name="Shape 74"/>
        <p:cNvGrpSpPr/>
        <p:nvPr/>
      </p:nvGrpSpPr>
      <p:grpSpPr>
        <a:xfrm>
          <a:off x="0" y="0"/>
          <a:ext cx="0" cy="0"/>
          <a:chOff x="0" y="0"/>
          <a:chExt cx="0" cy="0"/>
        </a:xfrm>
      </p:grpSpPr>
      <p:sp>
        <p:nvSpPr>
          <p:cNvPr id="75" name="Google Shape;75;p56"/>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6"/>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6"/>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56"/>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79" name="Google Shape;79;p56"/>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5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3" name="Shape 83"/>
        <p:cNvGrpSpPr/>
        <p:nvPr/>
      </p:nvGrpSpPr>
      <p:grpSpPr>
        <a:xfrm>
          <a:off x="0" y="0"/>
          <a:ext cx="0" cy="0"/>
          <a:chOff x="0" y="0"/>
          <a:chExt cx="0" cy="0"/>
        </a:xfrm>
      </p:grpSpPr>
      <p:sp>
        <p:nvSpPr>
          <p:cNvPr id="84" name="Google Shape;84;p5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7"/>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5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89" name="Shape 89"/>
        <p:cNvGrpSpPr/>
        <p:nvPr/>
      </p:nvGrpSpPr>
      <p:grpSpPr>
        <a:xfrm>
          <a:off x="0" y="0"/>
          <a:ext cx="0" cy="0"/>
          <a:chOff x="0" y="0"/>
          <a:chExt cx="0" cy="0"/>
        </a:xfrm>
      </p:grpSpPr>
      <p:sp>
        <p:nvSpPr>
          <p:cNvPr id="90" name="Google Shape;90;p5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8"/>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8"/>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5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06" name="Shape 106"/>
        <p:cNvGrpSpPr/>
        <p:nvPr/>
      </p:nvGrpSpPr>
      <p:grpSpPr>
        <a:xfrm>
          <a:off x="0" y="0"/>
          <a:ext cx="0" cy="0"/>
          <a:chOff x="0" y="0"/>
          <a:chExt cx="0" cy="0"/>
        </a:xfrm>
      </p:grpSpPr>
      <p:sp>
        <p:nvSpPr>
          <p:cNvPr id="107" name="Google Shape;107;p5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EFEFE"/>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5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9" name="Google Shape;109;p5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5"/>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45"/>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4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4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4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4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4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cxnSp>
        <p:nvCxnSpPr>
          <p:cNvPr id="13" name="Google Shape;13;p45"/>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7" name="Shape 97"/>
        <p:cNvGrpSpPr/>
        <p:nvPr/>
      </p:nvGrpSpPr>
      <p:grpSpPr>
        <a:xfrm>
          <a:off x="0" y="0"/>
          <a:ext cx="0" cy="0"/>
          <a:chOff x="0" y="0"/>
          <a:chExt cx="0" cy="0"/>
        </a:xfrm>
      </p:grpSpPr>
      <p:sp>
        <p:nvSpPr>
          <p:cNvPr id="98" name="Google Shape;98;p49"/>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9"/>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FEFEFE"/>
              </a:buClr>
              <a:buSzPts val="4800"/>
              <a:buFont typeface="Calibri"/>
              <a:buNone/>
              <a:defRPr b="0" i="0" sz="4800" u="none" cap="none" strike="noStrike">
                <a:solidFill>
                  <a:srgbClr val="FEFEF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1" name="Google Shape;101;p4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FEFEFE"/>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FEFEFE"/>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FEFEFE"/>
                </a:solidFill>
                <a:latin typeface="Calibri"/>
                <a:ea typeface="Calibri"/>
                <a:cs typeface="Calibri"/>
                <a:sym typeface="Calibri"/>
              </a:defRPr>
            </a:lvl9pPr>
          </a:lstStyle>
          <a:p/>
        </p:txBody>
      </p:sp>
      <p:sp>
        <p:nvSpPr>
          <p:cNvPr id="102" name="Google Shape;102;p4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3" name="Google Shape;103;p4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cap="non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4" name="Google Shape;104;p4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050" u="none">
                <a:solidFill>
                  <a:srgbClr val="FFFFFF"/>
                </a:solidFill>
                <a:latin typeface="Calibri"/>
                <a:ea typeface="Calibri"/>
                <a:cs typeface="Calibri"/>
                <a:sym typeface="Calibri"/>
              </a:defRPr>
            </a:lvl1pPr>
            <a:lvl2pPr indent="0" lvl="1" marL="0" marR="0" rtl="0" algn="r">
              <a:spcBef>
                <a:spcPts val="0"/>
              </a:spcBef>
              <a:buNone/>
              <a:defRPr b="0" sz="1050" u="none">
                <a:solidFill>
                  <a:srgbClr val="FFFFFF"/>
                </a:solidFill>
                <a:latin typeface="Calibri"/>
                <a:ea typeface="Calibri"/>
                <a:cs typeface="Calibri"/>
                <a:sym typeface="Calibri"/>
              </a:defRPr>
            </a:lvl2pPr>
            <a:lvl3pPr indent="0" lvl="2" marL="0" marR="0" rtl="0" algn="r">
              <a:spcBef>
                <a:spcPts val="0"/>
              </a:spcBef>
              <a:buNone/>
              <a:defRPr b="0" sz="1050" u="none">
                <a:solidFill>
                  <a:srgbClr val="FFFFFF"/>
                </a:solidFill>
                <a:latin typeface="Calibri"/>
                <a:ea typeface="Calibri"/>
                <a:cs typeface="Calibri"/>
                <a:sym typeface="Calibri"/>
              </a:defRPr>
            </a:lvl3pPr>
            <a:lvl4pPr indent="0" lvl="3" marL="0" marR="0" rtl="0" algn="r">
              <a:spcBef>
                <a:spcPts val="0"/>
              </a:spcBef>
              <a:buNone/>
              <a:defRPr b="0" sz="1050" u="none">
                <a:solidFill>
                  <a:srgbClr val="FFFFFF"/>
                </a:solidFill>
                <a:latin typeface="Calibri"/>
                <a:ea typeface="Calibri"/>
                <a:cs typeface="Calibri"/>
                <a:sym typeface="Calibri"/>
              </a:defRPr>
            </a:lvl4pPr>
            <a:lvl5pPr indent="0" lvl="4" marL="0" marR="0" rtl="0" algn="r">
              <a:spcBef>
                <a:spcPts val="0"/>
              </a:spcBef>
              <a:buNone/>
              <a:defRPr b="0" sz="1050" u="none">
                <a:solidFill>
                  <a:srgbClr val="FFFFFF"/>
                </a:solidFill>
                <a:latin typeface="Calibri"/>
                <a:ea typeface="Calibri"/>
                <a:cs typeface="Calibri"/>
                <a:sym typeface="Calibri"/>
              </a:defRPr>
            </a:lvl5pPr>
            <a:lvl6pPr indent="0" lvl="5" marL="0" marR="0" rtl="0" algn="r">
              <a:spcBef>
                <a:spcPts val="0"/>
              </a:spcBef>
              <a:buNone/>
              <a:defRPr b="0" sz="1050" u="none">
                <a:solidFill>
                  <a:srgbClr val="FFFFFF"/>
                </a:solidFill>
                <a:latin typeface="Calibri"/>
                <a:ea typeface="Calibri"/>
                <a:cs typeface="Calibri"/>
                <a:sym typeface="Calibri"/>
              </a:defRPr>
            </a:lvl6pPr>
            <a:lvl7pPr indent="0" lvl="6" marL="0" marR="0" rtl="0" algn="r">
              <a:spcBef>
                <a:spcPts val="0"/>
              </a:spcBef>
              <a:buNone/>
              <a:defRPr b="0" sz="1050" u="none">
                <a:solidFill>
                  <a:srgbClr val="FFFFFF"/>
                </a:solidFill>
                <a:latin typeface="Calibri"/>
                <a:ea typeface="Calibri"/>
                <a:cs typeface="Calibri"/>
                <a:sym typeface="Calibri"/>
              </a:defRPr>
            </a:lvl7pPr>
            <a:lvl8pPr indent="0" lvl="7" marL="0" marR="0" rtl="0" algn="r">
              <a:spcBef>
                <a:spcPts val="0"/>
              </a:spcBef>
              <a:buNone/>
              <a:defRPr b="0" sz="1050" u="none">
                <a:solidFill>
                  <a:srgbClr val="FFFFFF"/>
                </a:solidFill>
                <a:latin typeface="Calibri"/>
                <a:ea typeface="Calibri"/>
                <a:cs typeface="Calibri"/>
                <a:sym typeface="Calibri"/>
              </a:defRPr>
            </a:lvl8pPr>
            <a:lvl9pPr indent="0" lvl="8" marL="0" marR="0" rtl="0" algn="r">
              <a:spcBef>
                <a:spcPts val="0"/>
              </a:spcBef>
              <a:buNone/>
              <a:defRPr b="0" sz="105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cxnSp>
        <p:nvCxnSpPr>
          <p:cNvPr id="105" name="Google Shape;105;p49"/>
          <p:cNvCxnSpPr/>
          <p:nvPr/>
        </p:nvCxnSpPr>
        <p:spPr>
          <a:xfrm>
            <a:off x="1193532" y="1737845"/>
            <a:ext cx="9966960" cy="0"/>
          </a:xfrm>
          <a:prstGeom prst="straightConnector1">
            <a:avLst/>
          </a:prstGeom>
          <a:noFill/>
          <a:ln cap="flat" cmpd="sng" w="9525">
            <a:solidFill>
              <a:srgbClr val="FEFEFE"/>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Garbage_in,_garbage_ou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hyperlink" Target="https://www.youtube.com/watch?v=frGN3k_d1MU"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8.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s-MX"/>
              <a:t>Calidad y Preprocesamiento de Datos</a:t>
            </a:r>
            <a:endParaRPr/>
          </a:p>
        </p:txBody>
      </p:sp>
      <p:sp>
        <p:nvSpPr>
          <p:cNvPr id="117" name="Google Shape;117;p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s-MX"/>
              <a:t>MCIC VÍCTOR MANUEL CORZA VARGAS</a:t>
            </a:r>
            <a:endParaRPr/>
          </a:p>
          <a:p>
            <a:pPr indent="0" lvl="0" marL="0" rtl="0" algn="l">
              <a:lnSpc>
                <a:spcPct val="90000"/>
              </a:lnSpc>
              <a:spcBef>
                <a:spcPts val="1400"/>
              </a:spcBef>
              <a:spcAft>
                <a:spcPts val="0"/>
              </a:spcAft>
              <a:buSzPts val="2400"/>
              <a:buNone/>
            </a:pPr>
            <a:r>
              <a:rPr lang="es-MX"/>
              <a:t>MC FERNANDO AVIT</a:t>
            </a:r>
            <a:r>
              <a:rPr lang="es-MX"/>
              <a:t>ÚA VARELA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2"/>
          <p:cNvSpPr/>
          <p:nvPr/>
        </p:nvSpPr>
        <p:spPr>
          <a:xfrm>
            <a:off x="3175" y="6400800"/>
            <a:ext cx="12188825"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23" name="Google Shape;123;p2"/>
          <p:cNvSpPr/>
          <p:nvPr/>
        </p:nvSpPr>
        <p:spPr>
          <a:xfrm>
            <a:off x="15" y="6334316"/>
            <a:ext cx="12188825" cy="6400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124" name="Google Shape;124;p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Ilustración de cubo negro y rojo en 3D" id="125" name="Google Shape;125;p2"/>
          <p:cNvPicPr preferRelativeResize="0"/>
          <p:nvPr/>
        </p:nvPicPr>
        <p:blipFill rotWithShape="1">
          <a:blip r:embed="rId3">
            <a:alphaModFix amt="35000"/>
          </a:blip>
          <a:srcRect b="6250" l="0" r="0" t="0"/>
          <a:stretch/>
        </p:blipFill>
        <p:spPr>
          <a:xfrm>
            <a:off x="20" y="10"/>
            <a:ext cx="12191980" cy="6857990"/>
          </a:xfrm>
          <a:prstGeom prst="rect">
            <a:avLst/>
          </a:prstGeom>
          <a:noFill/>
          <a:ln>
            <a:noFill/>
          </a:ln>
        </p:spPr>
      </p:pic>
      <p:sp>
        <p:nvSpPr>
          <p:cNvPr id="126" name="Google Shape;126;p2"/>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s-MX"/>
              <a:t>Tema 1 Integración de datos heterogéneos</a:t>
            </a:r>
            <a:endParaRPr/>
          </a:p>
        </p:txBody>
      </p:sp>
      <p:sp>
        <p:nvSpPr>
          <p:cNvPr id="127" name="Google Shape;127;p2"/>
          <p:cNvSpPr txBox="1"/>
          <p:nvPr>
            <p:ph idx="1" type="body"/>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solidFill>
                <a:srgbClr val="262626"/>
              </a:solidFill>
            </a:endParaRPr>
          </a:p>
        </p:txBody>
      </p:sp>
      <p:cxnSp>
        <p:nvCxnSpPr>
          <p:cNvPr id="128" name="Google Shape;128;p2"/>
          <p:cNvCxnSpPr/>
          <p:nvPr/>
        </p:nvCxnSpPr>
        <p:spPr>
          <a:xfrm>
            <a:off x="1207658" y="4343400"/>
            <a:ext cx="9875520" cy="0"/>
          </a:xfrm>
          <a:prstGeom prst="straightConnector1">
            <a:avLst/>
          </a:prstGeom>
          <a:noFill/>
          <a:ln cap="flat" cmpd="sng" w="9525">
            <a:solidFill>
              <a:schemeClr val="dk2">
                <a:alpha val="89803"/>
              </a:schemeClr>
            </a:solidFill>
            <a:prstDash val="solid"/>
            <a:round/>
            <a:headEnd len="sm" w="sm" type="none"/>
            <a:tailEnd len="sm" w="sm" type="none"/>
          </a:ln>
        </p:spPr>
      </p:cxnSp>
      <p:sp>
        <p:nvSpPr>
          <p:cNvPr id="129" name="Google Shape;129;p2"/>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3"/>
          <p:cNvSpPr/>
          <p:nvPr/>
        </p:nvSpPr>
        <p:spPr>
          <a:xfrm>
            <a:off x="0" y="1"/>
            <a:ext cx="12192000"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3"/>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
          <p:cNvSpPr txBox="1"/>
          <p:nvPr>
            <p:ph type="title"/>
          </p:nvPr>
        </p:nvSpPr>
        <p:spPr>
          <a:xfrm>
            <a:off x="5181601" y="634946"/>
            <a:ext cx="636814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1.1 Sistemas de bases de datos heterogéneos</a:t>
            </a:r>
            <a:endParaRPr/>
          </a:p>
        </p:txBody>
      </p:sp>
      <p:pic>
        <p:nvPicPr>
          <p:cNvPr descr="Holograma en 3D desde iPad" id="138" name="Google Shape;138;p3"/>
          <p:cNvPicPr preferRelativeResize="0"/>
          <p:nvPr/>
        </p:nvPicPr>
        <p:blipFill rotWithShape="1">
          <a:blip r:embed="rId3">
            <a:alphaModFix/>
          </a:blip>
          <a:srcRect b="1" l="18736" r="36043" t="0"/>
          <a:stretch/>
        </p:blipFill>
        <p:spPr>
          <a:xfrm>
            <a:off x="20" y="-12128"/>
            <a:ext cx="4654276" cy="6870127"/>
          </a:xfrm>
          <a:prstGeom prst="rect">
            <a:avLst/>
          </a:prstGeom>
          <a:noFill/>
          <a:ln>
            <a:noFill/>
          </a:ln>
        </p:spPr>
      </p:pic>
      <p:cxnSp>
        <p:nvCxnSpPr>
          <p:cNvPr id="139" name="Google Shape;139;p3"/>
          <p:cNvCxnSpPr/>
          <p:nvPr/>
        </p:nvCxnSpPr>
        <p:spPr>
          <a:xfrm>
            <a:off x="5287617" y="2085703"/>
            <a:ext cx="6170686"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140" name="Google Shape;140;p3"/>
          <p:cNvSpPr txBox="1"/>
          <p:nvPr>
            <p:ph idx="1" type="body"/>
          </p:nvPr>
        </p:nvSpPr>
        <p:spPr>
          <a:xfrm>
            <a:off x="5181601" y="2198914"/>
            <a:ext cx="6368142" cy="367018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s-MX"/>
              <a:t>Objetivos:</a:t>
            </a:r>
            <a:endParaRPr/>
          </a:p>
          <a:p>
            <a:pPr indent="-127000" lvl="0" marL="91440" rtl="0" algn="l">
              <a:lnSpc>
                <a:spcPct val="90000"/>
              </a:lnSpc>
              <a:spcBef>
                <a:spcPts val="1400"/>
              </a:spcBef>
              <a:spcAft>
                <a:spcPts val="0"/>
              </a:spcAft>
              <a:buSzPts val="2000"/>
              <a:buFont typeface="Arial"/>
              <a:buChar char="•"/>
            </a:pPr>
            <a:r>
              <a:rPr lang="es-MX"/>
              <a:t>Comprender los conceptos fundamentales de la </a:t>
            </a:r>
            <a:r>
              <a:rPr b="1" lang="es-MX"/>
              <a:t>integración de datos heterogéneos</a:t>
            </a:r>
            <a:r>
              <a:rPr lang="es-MX"/>
              <a:t>.</a:t>
            </a:r>
            <a:endParaRPr/>
          </a:p>
          <a:p>
            <a:pPr indent="-127000" lvl="0" marL="91440" rtl="0" algn="l">
              <a:lnSpc>
                <a:spcPct val="90000"/>
              </a:lnSpc>
              <a:spcBef>
                <a:spcPts val="1400"/>
              </a:spcBef>
              <a:spcAft>
                <a:spcPts val="0"/>
              </a:spcAft>
              <a:buSzPts val="2000"/>
              <a:buFont typeface="Arial"/>
              <a:buChar char="•"/>
            </a:pPr>
            <a:r>
              <a:rPr lang="es-MX"/>
              <a:t>Identificar los desafíos asociados a la </a:t>
            </a:r>
            <a:r>
              <a:rPr b="1" lang="es-MX"/>
              <a:t>heterogeneidad semántica </a:t>
            </a:r>
            <a:r>
              <a:rPr lang="es-MX"/>
              <a:t>y </a:t>
            </a:r>
            <a:r>
              <a:rPr b="1" lang="es-MX"/>
              <a:t>sintáctica</a:t>
            </a:r>
            <a:r>
              <a:rPr lang="es-MX"/>
              <a:t> en sistemas de bases de datos.</a:t>
            </a:r>
            <a:endParaRPr/>
          </a:p>
          <a:p>
            <a:pPr indent="-127000" lvl="0" marL="91440" rtl="0" algn="l">
              <a:lnSpc>
                <a:spcPct val="90000"/>
              </a:lnSpc>
              <a:spcBef>
                <a:spcPts val="1400"/>
              </a:spcBef>
              <a:spcAft>
                <a:spcPts val="0"/>
              </a:spcAft>
              <a:buSzPts val="2000"/>
              <a:buFont typeface="Arial"/>
              <a:buChar char="•"/>
            </a:pPr>
            <a:r>
              <a:rPr lang="es-MX"/>
              <a:t>Analizar </a:t>
            </a:r>
            <a:r>
              <a:rPr b="1" lang="es-MX"/>
              <a:t>casos prácticos </a:t>
            </a:r>
            <a:r>
              <a:rPr lang="es-MX"/>
              <a:t>donde se presentan problemas de integración de datos.</a:t>
            </a:r>
            <a:endParaRPr/>
          </a:p>
          <a:p>
            <a:pPr indent="0" lvl="0" marL="0" rtl="0" algn="l">
              <a:lnSpc>
                <a:spcPct val="90000"/>
              </a:lnSpc>
              <a:spcBef>
                <a:spcPts val="1400"/>
              </a:spcBef>
              <a:spcAft>
                <a:spcPts val="0"/>
              </a:spcAft>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4"/>
          <p:cNvPicPr preferRelativeResize="0"/>
          <p:nvPr/>
        </p:nvPicPr>
        <p:blipFill>
          <a:blip r:embed="rId3">
            <a:alphaModFix/>
          </a:blip>
          <a:stretch>
            <a:fillRect/>
          </a:stretch>
        </p:blipFill>
        <p:spPr>
          <a:xfrm>
            <a:off x="2271525" y="2908725"/>
            <a:ext cx="7068826" cy="3396350"/>
          </a:xfrm>
          <a:prstGeom prst="rect">
            <a:avLst/>
          </a:prstGeom>
          <a:noFill/>
          <a:ln>
            <a:noFill/>
          </a:ln>
        </p:spPr>
      </p:pic>
      <p:sp>
        <p:nvSpPr>
          <p:cNvPr id="146" name="Google Shape;146;p4"/>
          <p:cNvSpPr txBox="1"/>
          <p:nvPr>
            <p:ph type="title"/>
          </p:nvPr>
        </p:nvSpPr>
        <p:spPr>
          <a:xfrm>
            <a:off x="1097280" y="112428"/>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Conceptos fundamentales de la </a:t>
            </a:r>
            <a:r>
              <a:rPr b="1" lang="es-MX"/>
              <a:t>integración de datos heterogéneos</a:t>
            </a:r>
            <a:endParaRPr/>
          </a:p>
        </p:txBody>
      </p:sp>
      <p:sp>
        <p:nvSpPr>
          <p:cNvPr id="147" name="Google Shape;147;p4"/>
          <p:cNvSpPr txBox="1"/>
          <p:nvPr>
            <p:ph idx="1" type="body"/>
          </p:nvPr>
        </p:nvSpPr>
        <p:spPr>
          <a:xfrm>
            <a:off x="1066805" y="1774059"/>
            <a:ext cx="10058400" cy="40233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s-MX"/>
              <a:t>Definición de Integración de Datos Heterogéneos:</a:t>
            </a:r>
            <a:endParaRPr b="1"/>
          </a:p>
          <a:p>
            <a:pPr indent="0" lvl="0" marL="0" rtl="0" algn="l">
              <a:lnSpc>
                <a:spcPct val="90000"/>
              </a:lnSpc>
              <a:spcBef>
                <a:spcPts val="0"/>
              </a:spcBef>
              <a:spcAft>
                <a:spcPts val="0"/>
              </a:spcAft>
              <a:buSzPts val="2000"/>
              <a:buNone/>
            </a:pPr>
            <a:r>
              <a:t/>
            </a:r>
            <a:endParaRPr b="1"/>
          </a:p>
          <a:p>
            <a:pPr indent="0" lvl="0" marL="0" rtl="0" algn="l">
              <a:lnSpc>
                <a:spcPct val="90000"/>
              </a:lnSpc>
              <a:spcBef>
                <a:spcPts val="0"/>
              </a:spcBef>
              <a:spcAft>
                <a:spcPts val="0"/>
              </a:spcAft>
              <a:buSzPts val="2000"/>
              <a:buNone/>
            </a:pPr>
            <a:r>
              <a:rPr lang="es-MX"/>
              <a:t>Proceso de combinar datos provenientes de diversas fuentes con diferentes formatos y estructuras para obtener una visión unificada. </a:t>
            </a:r>
            <a:endParaRPr/>
          </a:p>
        </p:txBody>
      </p:sp>
      <p:pic>
        <p:nvPicPr>
          <p:cNvPr id="148" name="Google Shape;148;p4"/>
          <p:cNvPicPr preferRelativeResize="0"/>
          <p:nvPr/>
        </p:nvPicPr>
        <p:blipFill>
          <a:blip r:embed="rId4">
            <a:alphaModFix/>
          </a:blip>
          <a:stretch>
            <a:fillRect/>
          </a:stretch>
        </p:blipFill>
        <p:spPr>
          <a:xfrm>
            <a:off x="9810975" y="5497975"/>
            <a:ext cx="496900" cy="556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Conceptos fundamentales de la </a:t>
            </a:r>
            <a:r>
              <a:rPr b="1" lang="es-MX"/>
              <a:t>integración de datos heterogéneos</a:t>
            </a:r>
            <a:endParaRPr/>
          </a:p>
        </p:txBody>
      </p:sp>
      <p:sp>
        <p:nvSpPr>
          <p:cNvPr id="154" name="Google Shape;154;p5"/>
          <p:cNvSpPr txBox="1"/>
          <p:nvPr>
            <p:ph idx="1" type="body"/>
          </p:nvPr>
        </p:nvSpPr>
        <p:spPr>
          <a:xfrm>
            <a:off x="838200" y="1898777"/>
            <a:ext cx="10515600" cy="4351338"/>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b="1" lang="es-MX" sz="2400"/>
              <a:t>Heterogeneidad en Sistemas de Bases de Datos:</a:t>
            </a:r>
            <a:endParaRPr sz="2400"/>
          </a:p>
          <a:p>
            <a:pPr indent="-127000" lvl="0" marL="91440" rtl="0" algn="l">
              <a:lnSpc>
                <a:spcPct val="90000"/>
              </a:lnSpc>
              <a:spcBef>
                <a:spcPts val="1400"/>
              </a:spcBef>
              <a:spcAft>
                <a:spcPts val="0"/>
              </a:spcAft>
              <a:buSzPts val="2000"/>
              <a:buFont typeface="Arial"/>
              <a:buChar char="•"/>
            </a:pPr>
            <a:r>
              <a:rPr b="1" lang="es-MX"/>
              <a:t>Heterogeneidad Semántica:</a:t>
            </a:r>
            <a:endParaRPr/>
          </a:p>
          <a:p>
            <a:pPr indent="-171450" lvl="1" marL="742950" rtl="0" algn="l">
              <a:lnSpc>
                <a:spcPct val="90000"/>
              </a:lnSpc>
              <a:spcBef>
                <a:spcPts val="400"/>
              </a:spcBef>
              <a:spcAft>
                <a:spcPts val="0"/>
              </a:spcAft>
              <a:buSzPts val="1800"/>
              <a:buFont typeface="Arial"/>
              <a:buNone/>
            </a:pPr>
            <a:r>
              <a:t/>
            </a:r>
            <a:endParaRPr/>
          </a:p>
          <a:p>
            <a:pPr indent="-285750" lvl="1" marL="742950" rtl="0" algn="l">
              <a:lnSpc>
                <a:spcPct val="90000"/>
              </a:lnSpc>
              <a:spcBef>
                <a:spcPts val="600"/>
              </a:spcBef>
              <a:spcAft>
                <a:spcPts val="0"/>
              </a:spcAft>
              <a:buSzPts val="1800"/>
              <a:buFont typeface="Arial"/>
              <a:buChar char="•"/>
            </a:pPr>
            <a:r>
              <a:rPr lang="es-MX"/>
              <a:t>Diferencias en el significado e interpretación de los datos entre sistemas.</a:t>
            </a:r>
            <a:endParaRPr/>
          </a:p>
          <a:p>
            <a:pPr indent="-285750" lvl="1" marL="742950" rtl="0" algn="l">
              <a:lnSpc>
                <a:spcPct val="90000"/>
              </a:lnSpc>
              <a:spcBef>
                <a:spcPts val="600"/>
              </a:spcBef>
              <a:spcAft>
                <a:spcPts val="0"/>
              </a:spcAft>
              <a:buSzPts val="1800"/>
              <a:buChar char="•"/>
            </a:pPr>
            <a:r>
              <a:rPr lang="es-MX"/>
              <a:t>Es dif</a:t>
            </a:r>
            <a:r>
              <a:rPr lang="es-MX"/>
              <a:t>ícil de detectar con pruebas (errores silenciosos), se requiere conocimiento de negocio</a:t>
            </a:r>
            <a:endParaRPr b="1"/>
          </a:p>
          <a:p>
            <a:pPr indent="-285750" lvl="1" marL="742950" rtl="0" algn="l">
              <a:lnSpc>
                <a:spcPct val="90000"/>
              </a:lnSpc>
              <a:spcBef>
                <a:spcPts val="600"/>
              </a:spcBef>
              <a:spcAft>
                <a:spcPts val="0"/>
              </a:spcAft>
              <a:buSzPts val="1800"/>
              <a:buFont typeface="Arial"/>
              <a:buChar char="•"/>
            </a:pPr>
            <a:r>
              <a:rPr b="1" lang="es-MX"/>
              <a:t>Ejemplos:</a:t>
            </a:r>
            <a:r>
              <a:rPr lang="es-MX"/>
              <a:t> </a:t>
            </a:r>
            <a:endParaRPr/>
          </a:p>
          <a:p>
            <a:pPr indent="0" lvl="0" marL="0" rtl="0" algn="l">
              <a:lnSpc>
                <a:spcPct val="90000"/>
              </a:lnSpc>
              <a:spcBef>
                <a:spcPts val="600"/>
              </a:spcBef>
              <a:spcAft>
                <a:spcPts val="0"/>
              </a:spcAft>
              <a:buNone/>
            </a:pPr>
            <a:r>
              <a:t/>
            </a:r>
            <a:endParaRPr/>
          </a:p>
          <a:p>
            <a:pPr indent="0" lvl="0" marL="0" rtl="0" algn="l">
              <a:lnSpc>
                <a:spcPct val="90000"/>
              </a:lnSpc>
              <a:spcBef>
                <a:spcPts val="1600"/>
              </a:spcBef>
              <a:spcAft>
                <a:spcPts val="0"/>
              </a:spcAft>
              <a:buSzPts val="2000"/>
              <a:buNone/>
            </a:pPr>
            <a:r>
              <a:t/>
            </a:r>
            <a:endParaRPr/>
          </a:p>
        </p:txBody>
      </p:sp>
      <p:sp>
        <p:nvSpPr>
          <p:cNvPr id="155" name="Google Shape;155;p5"/>
          <p:cNvSpPr txBox="1"/>
          <p:nvPr/>
        </p:nvSpPr>
        <p:spPr>
          <a:xfrm>
            <a:off x="1428225" y="4166900"/>
            <a:ext cx="9727500" cy="1335900"/>
          </a:xfrm>
          <a:prstGeom prst="rect">
            <a:avLst/>
          </a:prstGeom>
          <a:noFill/>
          <a:ln>
            <a:noFill/>
          </a:ln>
        </p:spPr>
        <p:txBody>
          <a:bodyPr anchorCtr="0" anchor="t" bIns="91425" lIns="91425" spcFirstLastPara="1" rIns="91425" wrap="square" tIns="91425">
            <a:spAutoFit/>
          </a:bodyPr>
          <a:lstStyle/>
          <a:p>
            <a:pPr indent="-285750" lvl="1" marL="742950" rtl="0" algn="l">
              <a:lnSpc>
                <a:spcPct val="90000"/>
              </a:lnSpc>
              <a:spcBef>
                <a:spcPts val="600"/>
              </a:spcBef>
              <a:spcAft>
                <a:spcPts val="0"/>
              </a:spcAft>
              <a:buClr>
                <a:schemeClr val="accent1"/>
              </a:buClr>
              <a:buSzPts val="1800"/>
              <a:buFont typeface="Arial"/>
              <a:buChar char="•"/>
            </a:pPr>
            <a:r>
              <a:rPr lang="es-MX" sz="1800">
                <a:solidFill>
                  <a:srgbClr val="3F3F3F"/>
                </a:solidFill>
                <a:latin typeface="Calibri"/>
                <a:ea typeface="Calibri"/>
                <a:cs typeface="Calibri"/>
                <a:sym typeface="Calibri"/>
              </a:rPr>
              <a:t>El término "cliente" puede referirse a una persona física en una base de datos y a una empresa en otra. </a:t>
            </a:r>
            <a:endParaRPr sz="1800">
              <a:solidFill>
                <a:srgbClr val="3F3F3F"/>
              </a:solidFill>
              <a:latin typeface="Calibri"/>
              <a:ea typeface="Calibri"/>
              <a:cs typeface="Calibri"/>
              <a:sym typeface="Calibri"/>
            </a:endParaRPr>
          </a:p>
          <a:p>
            <a:pPr indent="-285750" lvl="1" marL="742950" rtl="0" algn="l">
              <a:lnSpc>
                <a:spcPct val="90000"/>
              </a:lnSpc>
              <a:spcBef>
                <a:spcPts val="600"/>
              </a:spcBef>
              <a:spcAft>
                <a:spcPts val="0"/>
              </a:spcAft>
              <a:buClr>
                <a:schemeClr val="accent1"/>
              </a:buClr>
              <a:buSzPts val="1800"/>
              <a:buFont typeface="Calibri"/>
              <a:buChar char="•"/>
            </a:pPr>
            <a:r>
              <a:rPr lang="es-MX" sz="1800">
                <a:solidFill>
                  <a:srgbClr val="3F3F3F"/>
                </a:solidFill>
                <a:latin typeface="Calibri"/>
                <a:ea typeface="Calibri"/>
                <a:cs typeface="Calibri"/>
                <a:sym typeface="Calibri"/>
              </a:rPr>
              <a:t>Columna “Última compra” en base A es &lt; 30 días, en base B es  &lt; 90 días	</a:t>
            </a:r>
            <a:endParaRPr sz="1800">
              <a:solidFill>
                <a:srgbClr val="3F3F3F"/>
              </a:solidFill>
              <a:latin typeface="Calibri"/>
              <a:ea typeface="Calibri"/>
              <a:cs typeface="Calibri"/>
              <a:sym typeface="Calibri"/>
            </a:endParaRPr>
          </a:p>
          <a:p>
            <a:pPr indent="-285750" lvl="1" marL="742950" rtl="0" algn="l">
              <a:lnSpc>
                <a:spcPct val="90000"/>
              </a:lnSpc>
              <a:spcBef>
                <a:spcPts val="600"/>
              </a:spcBef>
              <a:spcAft>
                <a:spcPts val="0"/>
              </a:spcAft>
              <a:buClr>
                <a:schemeClr val="accent1"/>
              </a:buClr>
              <a:buSzPts val="1800"/>
              <a:buFont typeface="Calibri"/>
              <a:buChar char="•"/>
            </a:pPr>
            <a:r>
              <a:rPr lang="es-MX" sz="1800">
                <a:solidFill>
                  <a:srgbClr val="3F3F3F"/>
                </a:solidFill>
                <a:latin typeface="Calibri"/>
                <a:ea typeface="Calibri"/>
                <a:cs typeface="Calibri"/>
                <a:sym typeface="Calibri"/>
              </a:rPr>
              <a:t>Ingreso bruto vs neto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Conceptos fundamentales de la </a:t>
            </a:r>
            <a:r>
              <a:rPr b="1" lang="es-MX"/>
              <a:t>integración de datos heterogéneos</a:t>
            </a:r>
            <a:endParaRPr/>
          </a:p>
        </p:txBody>
      </p:sp>
      <p:sp>
        <p:nvSpPr>
          <p:cNvPr id="161" name="Google Shape;161;p6"/>
          <p:cNvSpPr txBox="1"/>
          <p:nvPr>
            <p:ph idx="1" type="body"/>
          </p:nvPr>
        </p:nvSpPr>
        <p:spPr>
          <a:xfrm>
            <a:off x="838200" y="1898776"/>
            <a:ext cx="10515600" cy="23508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400"/>
              <a:buNone/>
            </a:pPr>
            <a:r>
              <a:rPr b="1" lang="es-MX" sz="2400"/>
              <a:t>Heterogeneidad en Sistemas de Bases de Datos:</a:t>
            </a:r>
            <a:endParaRPr sz="2400"/>
          </a:p>
          <a:p>
            <a:pPr indent="-127000" lvl="0" marL="91440" rtl="0" algn="l">
              <a:lnSpc>
                <a:spcPct val="90000"/>
              </a:lnSpc>
              <a:spcBef>
                <a:spcPts val="1400"/>
              </a:spcBef>
              <a:spcAft>
                <a:spcPts val="0"/>
              </a:spcAft>
              <a:buSzPts val="2000"/>
              <a:buFont typeface="Arial"/>
              <a:buChar char="•"/>
            </a:pPr>
            <a:r>
              <a:rPr b="1" lang="es-MX"/>
              <a:t>Heterogeneidad Sintáctica:</a:t>
            </a:r>
            <a:endParaRPr/>
          </a:p>
          <a:p>
            <a:pPr indent="-171450" lvl="1" marL="742950" rtl="0" algn="l">
              <a:lnSpc>
                <a:spcPct val="90000"/>
              </a:lnSpc>
              <a:spcBef>
                <a:spcPts val="400"/>
              </a:spcBef>
              <a:spcAft>
                <a:spcPts val="0"/>
              </a:spcAft>
              <a:buSzPts val="1800"/>
              <a:buFont typeface="Arial"/>
              <a:buNone/>
            </a:pPr>
            <a:r>
              <a:t/>
            </a:r>
            <a:endParaRPr/>
          </a:p>
          <a:p>
            <a:pPr indent="-285750" lvl="1" marL="742950" rtl="0" algn="l">
              <a:lnSpc>
                <a:spcPct val="90000"/>
              </a:lnSpc>
              <a:spcBef>
                <a:spcPts val="600"/>
              </a:spcBef>
              <a:spcAft>
                <a:spcPts val="0"/>
              </a:spcAft>
              <a:buSzPts val="1800"/>
              <a:buFont typeface="Arial"/>
              <a:buChar char="•"/>
            </a:pPr>
            <a:r>
              <a:rPr lang="es-MX"/>
              <a:t>Variaciones en los formatos y lenguajes utilizados por los sistemas de datos.</a:t>
            </a:r>
            <a:endParaRPr/>
          </a:p>
          <a:p>
            <a:pPr indent="-285750" lvl="1" marL="742950" rtl="0" algn="l">
              <a:lnSpc>
                <a:spcPct val="90000"/>
              </a:lnSpc>
              <a:spcBef>
                <a:spcPts val="600"/>
              </a:spcBef>
              <a:spcAft>
                <a:spcPts val="0"/>
              </a:spcAft>
              <a:buSzPts val="1800"/>
              <a:buChar char="•"/>
            </a:pPr>
            <a:r>
              <a:rPr lang="es-MX"/>
              <a:t>Heterogeneidad es detectable por pruebas</a:t>
            </a:r>
            <a:endParaRPr b="1"/>
          </a:p>
          <a:p>
            <a:pPr indent="-285750" lvl="1" marL="742950" rtl="0" algn="l">
              <a:lnSpc>
                <a:spcPct val="90000"/>
              </a:lnSpc>
              <a:spcBef>
                <a:spcPts val="600"/>
              </a:spcBef>
              <a:spcAft>
                <a:spcPts val="0"/>
              </a:spcAft>
              <a:buSzPts val="1800"/>
              <a:buFont typeface="Arial"/>
              <a:buChar char="•"/>
            </a:pPr>
            <a:r>
              <a:rPr b="1" lang="es-MX"/>
              <a:t>Ejemplos:</a:t>
            </a:r>
            <a:r>
              <a:rPr lang="es-MX"/>
              <a:t> </a:t>
            </a:r>
            <a:endParaRPr/>
          </a:p>
        </p:txBody>
      </p:sp>
      <p:sp>
        <p:nvSpPr>
          <p:cNvPr id="162" name="Google Shape;162;p6"/>
          <p:cNvSpPr txBox="1"/>
          <p:nvPr/>
        </p:nvSpPr>
        <p:spPr>
          <a:xfrm>
            <a:off x="1345300" y="4166900"/>
            <a:ext cx="9191400" cy="1086600"/>
          </a:xfrm>
          <a:prstGeom prst="rect">
            <a:avLst/>
          </a:prstGeom>
          <a:noFill/>
          <a:ln>
            <a:noFill/>
          </a:ln>
        </p:spPr>
        <p:txBody>
          <a:bodyPr anchorCtr="0" anchor="t" bIns="91425" lIns="91425" spcFirstLastPara="1" rIns="91425" wrap="square" tIns="91425">
            <a:spAutoFit/>
          </a:bodyPr>
          <a:lstStyle/>
          <a:p>
            <a:pPr indent="-285750" lvl="1" marL="742950" rtl="0" algn="l">
              <a:lnSpc>
                <a:spcPct val="90000"/>
              </a:lnSpc>
              <a:spcBef>
                <a:spcPts val="600"/>
              </a:spcBef>
              <a:spcAft>
                <a:spcPts val="0"/>
              </a:spcAft>
              <a:buClr>
                <a:schemeClr val="accent1"/>
              </a:buClr>
              <a:buSzPts val="1800"/>
              <a:buFont typeface="Arial"/>
              <a:buChar char="•"/>
            </a:pPr>
            <a:r>
              <a:rPr lang="es-MX" sz="1800">
                <a:solidFill>
                  <a:srgbClr val="3F3F3F"/>
                </a:solidFill>
                <a:latin typeface="Calibri"/>
                <a:ea typeface="Calibri"/>
                <a:cs typeface="Calibri"/>
                <a:sym typeface="Calibri"/>
              </a:rPr>
              <a:t>Un sistema puede almacenar datos en formato XML, mientras que otro utiliza JSON.</a:t>
            </a:r>
            <a:endParaRPr sz="1800">
              <a:solidFill>
                <a:srgbClr val="3F3F3F"/>
              </a:solidFill>
              <a:latin typeface="Calibri"/>
              <a:ea typeface="Calibri"/>
              <a:cs typeface="Calibri"/>
              <a:sym typeface="Calibri"/>
            </a:endParaRPr>
          </a:p>
          <a:p>
            <a:pPr indent="-285750" lvl="1" marL="742950" rtl="0" algn="l">
              <a:lnSpc>
                <a:spcPct val="90000"/>
              </a:lnSpc>
              <a:spcBef>
                <a:spcPts val="600"/>
              </a:spcBef>
              <a:spcAft>
                <a:spcPts val="0"/>
              </a:spcAft>
              <a:buClr>
                <a:schemeClr val="accent1"/>
              </a:buClr>
              <a:buSzPts val="1800"/>
              <a:buFont typeface="Calibri"/>
              <a:buChar char="•"/>
            </a:pPr>
            <a:r>
              <a:rPr lang="es-MX" sz="1800">
                <a:solidFill>
                  <a:srgbClr val="3F3F3F"/>
                </a:solidFill>
                <a:latin typeface="Calibri"/>
                <a:ea typeface="Calibri"/>
                <a:cs typeface="Calibri"/>
                <a:sym typeface="Calibri"/>
              </a:rPr>
              <a:t>Fecha </a:t>
            </a:r>
            <a:r>
              <a:rPr i="1" lang="es-MX" sz="1800">
                <a:solidFill>
                  <a:srgbClr val="888888"/>
                </a:solidFill>
                <a:latin typeface="Calibri"/>
                <a:ea typeface="Calibri"/>
                <a:cs typeface="Calibri"/>
                <a:sym typeface="Calibri"/>
              </a:rPr>
              <a:t>YYYY-MM-DD</a:t>
            </a:r>
            <a:r>
              <a:rPr lang="es-MX" sz="1800">
                <a:solidFill>
                  <a:srgbClr val="888888"/>
                </a:solidFill>
                <a:latin typeface="Calibri"/>
                <a:ea typeface="Calibri"/>
                <a:cs typeface="Calibri"/>
                <a:sym typeface="Calibri"/>
              </a:rPr>
              <a:t> </a:t>
            </a:r>
            <a:r>
              <a:rPr lang="es-MX" sz="1800">
                <a:solidFill>
                  <a:srgbClr val="3F3F3F"/>
                </a:solidFill>
                <a:latin typeface="Calibri"/>
                <a:ea typeface="Calibri"/>
                <a:cs typeface="Calibri"/>
                <a:sym typeface="Calibri"/>
              </a:rPr>
              <a:t>vs </a:t>
            </a:r>
            <a:r>
              <a:rPr i="1" lang="es-MX" sz="1800">
                <a:solidFill>
                  <a:srgbClr val="7F7F7F"/>
                </a:solidFill>
                <a:latin typeface="Calibri"/>
                <a:ea typeface="Calibri"/>
                <a:cs typeface="Calibri"/>
                <a:sym typeface="Calibri"/>
              </a:rPr>
              <a:t>DD/MM/YYYY</a:t>
            </a:r>
            <a:endParaRPr i="1" sz="1800">
              <a:solidFill>
                <a:srgbClr val="7F7F7F"/>
              </a:solidFill>
              <a:latin typeface="Calibri"/>
              <a:ea typeface="Calibri"/>
              <a:cs typeface="Calibri"/>
              <a:sym typeface="Calibri"/>
            </a:endParaRPr>
          </a:p>
          <a:p>
            <a:pPr indent="-285750" lvl="1" marL="742950" rtl="0" algn="l">
              <a:lnSpc>
                <a:spcPct val="90000"/>
              </a:lnSpc>
              <a:spcBef>
                <a:spcPts val="600"/>
              </a:spcBef>
              <a:spcAft>
                <a:spcPts val="0"/>
              </a:spcAft>
              <a:buClr>
                <a:schemeClr val="accent1"/>
              </a:buClr>
              <a:buSzPts val="1800"/>
              <a:buFont typeface="Calibri"/>
              <a:buChar char="•"/>
            </a:pPr>
            <a:r>
              <a:rPr i="1" lang="es-MX" sz="1800">
                <a:solidFill>
                  <a:srgbClr val="888888"/>
                </a:solidFill>
                <a:latin typeface="Calibri"/>
                <a:ea typeface="Calibri"/>
                <a:cs typeface="Calibri"/>
                <a:sym typeface="Calibri"/>
              </a:rPr>
              <a:t>null</a:t>
            </a:r>
            <a:r>
              <a:rPr lang="es-MX" sz="1800">
                <a:solidFill>
                  <a:srgbClr val="3F3F3F"/>
                </a:solidFill>
                <a:latin typeface="Calibri"/>
                <a:ea typeface="Calibri"/>
                <a:cs typeface="Calibri"/>
                <a:sym typeface="Calibri"/>
              </a:rPr>
              <a:t> a </a:t>
            </a:r>
            <a:r>
              <a:rPr i="1" lang="es-MX" sz="1800">
                <a:solidFill>
                  <a:srgbClr val="888888"/>
                </a:solidFill>
                <a:latin typeface="Calibri"/>
                <a:ea typeface="Calibri"/>
                <a:cs typeface="Calibri"/>
                <a:sym typeface="Calibri"/>
              </a:rPr>
              <a:t>None</a:t>
            </a:r>
            <a:r>
              <a:rPr lang="es-MX" sz="1800">
                <a:solidFill>
                  <a:srgbClr val="3F3F3F"/>
                </a:solidFill>
                <a:latin typeface="Calibri"/>
                <a:ea typeface="Calibri"/>
                <a:cs typeface="Calibri"/>
                <a:sym typeface="Calibri"/>
              </a:rPr>
              <a:t> a </a:t>
            </a:r>
            <a:r>
              <a:rPr i="1" lang="es-MX" sz="1800">
                <a:solidFill>
                  <a:srgbClr val="888888"/>
                </a:solidFill>
                <a:latin typeface="Calibri"/>
                <a:ea typeface="Calibri"/>
                <a:cs typeface="Calibri"/>
                <a:sym typeface="Calibri"/>
              </a:rPr>
              <a:t>“”</a:t>
            </a:r>
            <a:endParaRPr i="1">
              <a:solidFill>
                <a:srgbClr val="88888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Conceptos fundamentales de la </a:t>
            </a:r>
            <a:r>
              <a:rPr b="1" lang="es-MX"/>
              <a:t>integración de datos heterogéneos</a:t>
            </a:r>
            <a:endParaRPr/>
          </a:p>
        </p:txBody>
      </p:sp>
      <p:sp>
        <p:nvSpPr>
          <p:cNvPr id="168" name="Google Shape;168;p7"/>
          <p:cNvSpPr txBox="1"/>
          <p:nvPr>
            <p:ph idx="1" type="body"/>
          </p:nvPr>
        </p:nvSpPr>
        <p:spPr>
          <a:xfrm>
            <a:off x="838200" y="1898775"/>
            <a:ext cx="10515600" cy="33654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s-MX"/>
              <a:t>Impacto de la Heterogeneidad en la Integración de Datos:</a:t>
            </a:r>
            <a:endParaRPr/>
          </a:p>
          <a:p>
            <a:pPr indent="0" lvl="0" marL="0" rtl="0" algn="l">
              <a:lnSpc>
                <a:spcPct val="90000"/>
              </a:lnSpc>
              <a:spcBef>
                <a:spcPts val="1400"/>
              </a:spcBef>
              <a:spcAft>
                <a:spcPts val="0"/>
              </a:spcAft>
              <a:buSzPts val="2000"/>
              <a:buNone/>
            </a:pPr>
            <a:r>
              <a:t/>
            </a:r>
            <a:endParaRPr/>
          </a:p>
        </p:txBody>
      </p:sp>
      <p:sp>
        <p:nvSpPr>
          <p:cNvPr id="169" name="Google Shape;169;p7"/>
          <p:cNvSpPr txBox="1"/>
          <p:nvPr/>
        </p:nvSpPr>
        <p:spPr>
          <a:xfrm>
            <a:off x="1594800" y="2520575"/>
            <a:ext cx="9002400" cy="2108700"/>
          </a:xfrm>
          <a:prstGeom prst="rect">
            <a:avLst/>
          </a:prstGeom>
          <a:noFill/>
          <a:ln>
            <a:noFill/>
          </a:ln>
        </p:spPr>
        <p:txBody>
          <a:bodyPr anchorCtr="0" anchor="t" bIns="91425" lIns="91425" spcFirstLastPara="1" rIns="91425" wrap="square" tIns="91425">
            <a:spAutoFit/>
          </a:bodyPr>
          <a:lstStyle/>
          <a:p>
            <a:pPr indent="-127000" lvl="0" marL="91440" rtl="0" algn="l">
              <a:lnSpc>
                <a:spcPct val="90000"/>
              </a:lnSpc>
              <a:spcBef>
                <a:spcPts val="1400"/>
              </a:spcBef>
              <a:spcAft>
                <a:spcPts val="0"/>
              </a:spcAft>
              <a:buClr>
                <a:schemeClr val="accent1"/>
              </a:buClr>
              <a:buSzPts val="2000"/>
              <a:buFont typeface="Arial"/>
              <a:buChar char="•"/>
            </a:pPr>
            <a:r>
              <a:rPr lang="es-MX" sz="2000">
                <a:solidFill>
                  <a:srgbClr val="3F3F3F"/>
                </a:solidFill>
                <a:latin typeface="Calibri"/>
                <a:ea typeface="Calibri"/>
                <a:cs typeface="Calibri"/>
                <a:sym typeface="Calibri"/>
              </a:rPr>
              <a:t>Dificultades en la consolidación de información para análisis y toma de decisiones.</a:t>
            </a:r>
            <a:endParaRPr sz="2000">
              <a:solidFill>
                <a:srgbClr val="3F3F3F"/>
              </a:solidFill>
              <a:latin typeface="Calibri"/>
              <a:ea typeface="Calibri"/>
              <a:cs typeface="Calibri"/>
              <a:sym typeface="Calibri"/>
            </a:endParaRPr>
          </a:p>
          <a:p>
            <a:pPr indent="-127000" lvl="0" marL="91440" rtl="0" algn="l">
              <a:lnSpc>
                <a:spcPct val="90000"/>
              </a:lnSpc>
              <a:spcBef>
                <a:spcPts val="1400"/>
              </a:spcBef>
              <a:spcAft>
                <a:spcPts val="0"/>
              </a:spcAft>
              <a:buClr>
                <a:schemeClr val="accent1"/>
              </a:buClr>
              <a:buSzPts val="2000"/>
              <a:buFont typeface="Arial"/>
              <a:buChar char="•"/>
            </a:pPr>
            <a:r>
              <a:rPr lang="es-MX" sz="2000">
                <a:solidFill>
                  <a:srgbClr val="3F3F3F"/>
                </a:solidFill>
                <a:latin typeface="Calibri"/>
                <a:ea typeface="Calibri"/>
                <a:cs typeface="Calibri"/>
                <a:sym typeface="Calibri"/>
              </a:rPr>
              <a:t>Necesidad de herramientas y técnicas especializadas para resolver incompatibilidades.</a:t>
            </a:r>
            <a:endParaRPr sz="2000">
              <a:solidFill>
                <a:srgbClr val="3F3F3F"/>
              </a:solidFill>
              <a:latin typeface="Calibri"/>
              <a:ea typeface="Calibri"/>
              <a:cs typeface="Calibri"/>
              <a:sym typeface="Calibri"/>
            </a:endParaRPr>
          </a:p>
          <a:p>
            <a:pPr indent="0" lvl="0" marL="0" rtl="0" algn="l">
              <a:lnSpc>
                <a:spcPct val="90000"/>
              </a:lnSpc>
              <a:spcBef>
                <a:spcPts val="1400"/>
              </a:spcBef>
              <a:spcAft>
                <a:spcPts val="0"/>
              </a:spcAft>
              <a:buNone/>
            </a:pPr>
            <a:r>
              <a:t/>
            </a:r>
            <a:endParaRPr sz="2000">
              <a:solidFill>
                <a:srgbClr val="3F3F3F"/>
              </a:solidFill>
              <a:latin typeface="Calibri"/>
              <a:ea typeface="Calibri"/>
              <a:cs typeface="Calibri"/>
              <a:sym typeface="Calibri"/>
            </a:endParaRPr>
          </a:p>
          <a:p>
            <a:pPr indent="0" lvl="0" marL="0" rtl="0" algn="ctr">
              <a:lnSpc>
                <a:spcPct val="90000"/>
              </a:lnSpc>
              <a:spcBef>
                <a:spcPts val="1400"/>
              </a:spcBef>
              <a:spcAft>
                <a:spcPts val="0"/>
              </a:spcAft>
              <a:buNone/>
            </a:pPr>
            <a:r>
              <a:rPr lang="es-MX" sz="2000" u="sng">
                <a:solidFill>
                  <a:schemeClr val="hlink"/>
                </a:solidFill>
                <a:latin typeface="Calibri"/>
                <a:ea typeface="Calibri"/>
                <a:cs typeface="Calibri"/>
                <a:sym typeface="Calibri"/>
                <a:hlinkClick r:id="rId3"/>
              </a:rPr>
              <a:t>Garbage in, garbage out</a:t>
            </a:r>
            <a:endParaRPr sz="2000">
              <a:solidFill>
                <a:srgbClr val="3F3F3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8"/>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8"/>
          <p:cNvSpPr txBox="1"/>
          <p:nvPr>
            <p:ph type="title"/>
          </p:nvPr>
        </p:nvSpPr>
        <p:spPr>
          <a:xfrm>
            <a:off x="4974771" y="634946"/>
            <a:ext cx="657497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700"/>
              <a:buFont typeface="Calibri"/>
              <a:buNone/>
            </a:pPr>
            <a:r>
              <a:rPr lang="es-MX" sz="3700"/>
              <a:t>1.2 Fuentes de datos no estructurados y semiestructurados</a:t>
            </a:r>
            <a:endParaRPr/>
          </a:p>
        </p:txBody>
      </p:sp>
      <p:pic>
        <p:nvPicPr>
          <p:cNvPr descr="Gráfico de barras con tendencia alcista con relleno sólido" id="176" name="Google Shape;176;p8"/>
          <p:cNvPicPr preferRelativeResize="0"/>
          <p:nvPr/>
        </p:nvPicPr>
        <p:blipFill rotWithShape="1">
          <a:blip r:embed="rId3">
            <a:alphaModFix/>
          </a:blip>
          <a:srcRect b="0" l="0" r="0" t="0"/>
          <a:stretch/>
        </p:blipFill>
        <p:spPr>
          <a:xfrm>
            <a:off x="633999" y="1296626"/>
            <a:ext cx="4001315" cy="4001315"/>
          </a:xfrm>
          <a:prstGeom prst="rect">
            <a:avLst/>
          </a:prstGeom>
          <a:noFill/>
          <a:ln>
            <a:noFill/>
          </a:ln>
        </p:spPr>
      </p:pic>
      <p:cxnSp>
        <p:nvCxnSpPr>
          <p:cNvPr id="177" name="Google Shape;177;p8"/>
          <p:cNvCxnSpPr/>
          <p:nvPr/>
        </p:nvCxnSpPr>
        <p:spPr>
          <a:xfrm>
            <a:off x="4974770" y="2086188"/>
            <a:ext cx="608976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178" name="Google Shape;178;p8"/>
          <p:cNvSpPr txBox="1"/>
          <p:nvPr>
            <p:ph idx="1" type="body"/>
          </p:nvPr>
        </p:nvSpPr>
        <p:spPr>
          <a:xfrm>
            <a:off x="4974769" y="2198914"/>
            <a:ext cx="6574973" cy="367018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Objetivos:</a:t>
            </a:r>
            <a:endParaRPr/>
          </a:p>
          <a:p>
            <a:pPr indent="-127000" lvl="0" marL="91440" rtl="0" algn="l">
              <a:lnSpc>
                <a:spcPct val="90000"/>
              </a:lnSpc>
              <a:spcBef>
                <a:spcPts val="1400"/>
              </a:spcBef>
              <a:spcAft>
                <a:spcPts val="0"/>
              </a:spcAft>
              <a:buSzPts val="2000"/>
              <a:buFont typeface="Arial"/>
              <a:buChar char="•"/>
            </a:pPr>
            <a:r>
              <a:rPr lang="es-MX"/>
              <a:t>Comprender las características de los datos no estructurados y semiestructurados.</a:t>
            </a:r>
            <a:endParaRPr/>
          </a:p>
          <a:p>
            <a:pPr indent="-127000" lvl="0" marL="91440" rtl="0" algn="l">
              <a:lnSpc>
                <a:spcPct val="90000"/>
              </a:lnSpc>
              <a:spcBef>
                <a:spcPts val="1400"/>
              </a:spcBef>
              <a:spcAft>
                <a:spcPts val="0"/>
              </a:spcAft>
              <a:buSzPts val="2000"/>
              <a:buFont typeface="Arial"/>
              <a:buChar char="•"/>
            </a:pPr>
            <a:r>
              <a:rPr lang="es-MX"/>
              <a:t>Analizar ejemplos de datos provenientes de documentos, hojas de cálculo, grafos y textos.</a:t>
            </a:r>
            <a:endParaRPr/>
          </a:p>
          <a:p>
            <a:pPr indent="-127000" lvl="0" marL="91440" rtl="0" algn="l">
              <a:lnSpc>
                <a:spcPct val="90000"/>
              </a:lnSpc>
              <a:spcBef>
                <a:spcPts val="1400"/>
              </a:spcBef>
              <a:spcAft>
                <a:spcPts val="0"/>
              </a:spcAft>
              <a:buSzPts val="2000"/>
              <a:buFont typeface="Arial"/>
              <a:buChar char="•"/>
            </a:pPr>
            <a:r>
              <a:rPr lang="es-MX"/>
              <a:t>Familiarizarse con herramientas y técnicas para procesar y manejar estos tipos de datos.</a:t>
            </a:r>
            <a:endParaRPr/>
          </a:p>
          <a:p>
            <a:pPr indent="0" lvl="0" marL="91440" rtl="0" algn="l">
              <a:lnSpc>
                <a:spcPct val="90000"/>
              </a:lnSpc>
              <a:spcBef>
                <a:spcPts val="1400"/>
              </a:spcBef>
              <a:spcAft>
                <a:spcPts val="0"/>
              </a:spcAft>
              <a:buSzPts val="2000"/>
              <a:buNone/>
            </a:pPr>
            <a:r>
              <a:t/>
            </a:r>
            <a:endParaRPr/>
          </a:p>
        </p:txBody>
      </p:sp>
      <p:sp>
        <p:nvSpPr>
          <p:cNvPr id="179" name="Google Shape;179;p8"/>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8"/>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9"/>
          <p:cNvSpPr/>
          <p:nvPr/>
        </p:nvSpPr>
        <p:spPr>
          <a:xfrm>
            <a:off x="0" y="0"/>
            <a:ext cx="1218631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9"/>
          <p:cNvSpPr/>
          <p:nvPr/>
        </p:nvSpPr>
        <p:spPr>
          <a:xfrm>
            <a:off x="16" y="0"/>
            <a:ext cx="4050791" cy="68580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9"/>
          <p:cNvSpPr txBox="1"/>
          <p:nvPr>
            <p:ph type="title"/>
          </p:nvPr>
        </p:nvSpPr>
        <p:spPr>
          <a:xfrm>
            <a:off x="492370" y="516835"/>
            <a:ext cx="3084844" cy="577284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rgbClr val="FFFFFF"/>
              </a:buClr>
              <a:buSzPts val="3100"/>
              <a:buFont typeface="Calibri"/>
              <a:buNone/>
            </a:pPr>
            <a:r>
              <a:rPr lang="es-MX" sz="3000">
                <a:solidFill>
                  <a:srgbClr val="FFFFFF"/>
                </a:solidFill>
              </a:rPr>
              <a:t>Definición de datos estructurados, no estructurados y semiestructurados</a:t>
            </a:r>
            <a:endParaRPr sz="4700"/>
          </a:p>
        </p:txBody>
      </p:sp>
      <p:sp>
        <p:nvSpPr>
          <p:cNvPr id="188" name="Google Shape;188;p9"/>
          <p:cNvSpPr/>
          <p:nvPr/>
        </p:nvSpPr>
        <p:spPr>
          <a:xfrm>
            <a:off x="4040071" y="0"/>
            <a:ext cx="64008" cy="6858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9" name="Google Shape;189;p9"/>
          <p:cNvGrpSpPr/>
          <p:nvPr/>
        </p:nvGrpSpPr>
        <p:grpSpPr>
          <a:xfrm>
            <a:off x="4741863" y="640452"/>
            <a:ext cx="6797675" cy="5648532"/>
            <a:chOff x="0" y="689"/>
            <a:chExt cx="6797675" cy="5648532"/>
          </a:xfrm>
        </p:grpSpPr>
        <p:sp>
          <p:nvSpPr>
            <p:cNvPr id="190" name="Google Shape;190;p9"/>
            <p:cNvSpPr/>
            <p:nvPr/>
          </p:nvSpPr>
          <p:spPr>
            <a:xfrm>
              <a:off x="0" y="689"/>
              <a:ext cx="6797675" cy="161386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488194" y="363809"/>
              <a:ext cx="887626" cy="887626"/>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1864015" y="689"/>
              <a:ext cx="4933659" cy="16138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txBox="1"/>
            <p:nvPr/>
          </p:nvSpPr>
          <p:spPr>
            <a:xfrm>
              <a:off x="1864015" y="689"/>
              <a:ext cx="4933659" cy="1613866"/>
            </a:xfrm>
            <a:prstGeom prst="rect">
              <a:avLst/>
            </a:prstGeom>
            <a:noFill/>
            <a:ln>
              <a:noFill/>
            </a:ln>
          </p:spPr>
          <p:txBody>
            <a:bodyPr anchorCtr="0" anchor="ctr" bIns="170800" lIns="170800" spcFirstLastPara="1" rIns="170800" wrap="square" tIns="170800">
              <a:noAutofit/>
            </a:bodyPr>
            <a:lstStyle/>
            <a:p>
              <a:pPr indent="0" lvl="0" marL="0" marR="0" rtl="0" algn="l">
                <a:lnSpc>
                  <a:spcPct val="90000"/>
                </a:lnSpc>
                <a:spcBef>
                  <a:spcPts val="0"/>
                </a:spcBef>
                <a:spcAft>
                  <a:spcPts val="0"/>
                </a:spcAft>
                <a:buClr>
                  <a:schemeClr val="dk1"/>
                </a:buClr>
                <a:buSzPts val="2200"/>
                <a:buFont typeface="Calibri"/>
                <a:buNone/>
              </a:pPr>
              <a:r>
                <a:rPr b="1" lang="es-MX" sz="2200">
                  <a:solidFill>
                    <a:schemeClr val="dk1"/>
                  </a:solidFill>
                  <a:latin typeface="Calibri"/>
                  <a:ea typeface="Calibri"/>
                  <a:cs typeface="Calibri"/>
                  <a:sym typeface="Calibri"/>
                </a:rPr>
                <a:t>Estructurados:</a:t>
              </a:r>
              <a:r>
                <a:rPr lang="es-MX" sz="2200">
                  <a:solidFill>
                    <a:schemeClr val="dk1"/>
                  </a:solidFill>
                  <a:latin typeface="Calibri"/>
                  <a:ea typeface="Calibri"/>
                  <a:cs typeface="Calibri"/>
                  <a:sym typeface="Calibri"/>
                </a:rPr>
                <a:t> Datos organizados en tablas con esquemas definidos (e.g., bases de datos relacionales).</a:t>
              </a:r>
              <a:endParaRPr sz="2200">
                <a:solidFill>
                  <a:schemeClr val="dk1"/>
                </a:solidFill>
                <a:latin typeface="Calibri"/>
                <a:ea typeface="Calibri"/>
                <a:cs typeface="Calibri"/>
                <a:sym typeface="Calibri"/>
              </a:endParaRPr>
            </a:p>
          </p:txBody>
        </p:sp>
        <p:sp>
          <p:nvSpPr>
            <p:cNvPr id="194" name="Google Shape;194;p9"/>
            <p:cNvSpPr/>
            <p:nvPr/>
          </p:nvSpPr>
          <p:spPr>
            <a:xfrm>
              <a:off x="0" y="2018022"/>
              <a:ext cx="6797675" cy="161386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488194" y="2381142"/>
              <a:ext cx="887626" cy="887626"/>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1864015" y="2018022"/>
              <a:ext cx="4933659" cy="16138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txBox="1"/>
            <p:nvPr/>
          </p:nvSpPr>
          <p:spPr>
            <a:xfrm>
              <a:off x="1864015" y="2018022"/>
              <a:ext cx="4933659" cy="1613866"/>
            </a:xfrm>
            <a:prstGeom prst="rect">
              <a:avLst/>
            </a:prstGeom>
            <a:noFill/>
            <a:ln>
              <a:noFill/>
            </a:ln>
          </p:spPr>
          <p:txBody>
            <a:bodyPr anchorCtr="0" anchor="ctr" bIns="170800" lIns="170800" spcFirstLastPara="1" rIns="170800" wrap="square" tIns="170800">
              <a:noAutofit/>
            </a:bodyPr>
            <a:lstStyle/>
            <a:p>
              <a:pPr indent="0" lvl="0" marL="0" marR="0" rtl="0" algn="l">
                <a:lnSpc>
                  <a:spcPct val="90000"/>
                </a:lnSpc>
                <a:spcBef>
                  <a:spcPts val="0"/>
                </a:spcBef>
                <a:spcAft>
                  <a:spcPts val="0"/>
                </a:spcAft>
                <a:buClr>
                  <a:schemeClr val="dk1"/>
                </a:buClr>
                <a:buSzPts val="2200"/>
                <a:buFont typeface="Calibri"/>
                <a:buNone/>
              </a:pPr>
              <a:r>
                <a:rPr b="1" lang="es-MX" sz="2200">
                  <a:solidFill>
                    <a:schemeClr val="dk1"/>
                  </a:solidFill>
                  <a:latin typeface="Calibri"/>
                  <a:ea typeface="Calibri"/>
                  <a:cs typeface="Calibri"/>
                  <a:sym typeface="Calibri"/>
                </a:rPr>
                <a:t>No estructurados:</a:t>
              </a:r>
              <a:r>
                <a:rPr lang="es-MX" sz="2200">
                  <a:solidFill>
                    <a:schemeClr val="dk1"/>
                  </a:solidFill>
                  <a:latin typeface="Calibri"/>
                  <a:ea typeface="Calibri"/>
                  <a:cs typeface="Calibri"/>
                  <a:sym typeface="Calibri"/>
                </a:rPr>
                <a:t> Datos que no tienen un esquema predefinido y requieren técnicas especializadas para su análisis (e.g., imágenes, videos, texto plano).</a:t>
              </a:r>
              <a:endParaRPr sz="2200">
                <a:solidFill>
                  <a:schemeClr val="dk1"/>
                </a:solidFill>
                <a:latin typeface="Calibri"/>
                <a:ea typeface="Calibri"/>
                <a:cs typeface="Calibri"/>
                <a:sym typeface="Calibri"/>
              </a:endParaRPr>
            </a:p>
          </p:txBody>
        </p:sp>
        <p:sp>
          <p:nvSpPr>
            <p:cNvPr id="198" name="Google Shape;198;p9"/>
            <p:cNvSpPr/>
            <p:nvPr/>
          </p:nvSpPr>
          <p:spPr>
            <a:xfrm>
              <a:off x="0" y="4035355"/>
              <a:ext cx="6797675" cy="1613866"/>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488194" y="4398475"/>
              <a:ext cx="887626" cy="887626"/>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1864015" y="4035355"/>
              <a:ext cx="4933659" cy="161386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txBox="1"/>
            <p:nvPr/>
          </p:nvSpPr>
          <p:spPr>
            <a:xfrm>
              <a:off x="1864015" y="4035355"/>
              <a:ext cx="4933659" cy="1613866"/>
            </a:xfrm>
            <a:prstGeom prst="rect">
              <a:avLst/>
            </a:prstGeom>
            <a:noFill/>
            <a:ln>
              <a:noFill/>
            </a:ln>
          </p:spPr>
          <p:txBody>
            <a:bodyPr anchorCtr="0" anchor="ctr" bIns="170800" lIns="170800" spcFirstLastPara="1" rIns="170800" wrap="square" tIns="170800">
              <a:noAutofit/>
            </a:bodyPr>
            <a:lstStyle/>
            <a:p>
              <a:pPr indent="0" lvl="0" marL="0" marR="0" rtl="0" algn="l">
                <a:lnSpc>
                  <a:spcPct val="90000"/>
                </a:lnSpc>
                <a:spcBef>
                  <a:spcPts val="0"/>
                </a:spcBef>
                <a:spcAft>
                  <a:spcPts val="0"/>
                </a:spcAft>
                <a:buClr>
                  <a:schemeClr val="dk1"/>
                </a:buClr>
                <a:buSzPts val="2200"/>
                <a:buFont typeface="Calibri"/>
                <a:buNone/>
              </a:pPr>
              <a:r>
                <a:rPr b="1" lang="es-MX" sz="2200">
                  <a:solidFill>
                    <a:schemeClr val="dk1"/>
                  </a:solidFill>
                  <a:latin typeface="Calibri"/>
                  <a:ea typeface="Calibri"/>
                  <a:cs typeface="Calibri"/>
                  <a:sym typeface="Calibri"/>
                </a:rPr>
                <a:t>Semiestructurados:</a:t>
              </a:r>
              <a:r>
                <a:rPr lang="es-MX" sz="2200">
                  <a:solidFill>
                    <a:schemeClr val="dk1"/>
                  </a:solidFill>
                  <a:latin typeface="Calibri"/>
                  <a:ea typeface="Calibri"/>
                  <a:cs typeface="Calibri"/>
                  <a:sym typeface="Calibri"/>
                </a:rPr>
                <a:t> Datos con cierta organización pero sin un esquema rígido (e.g., JSON, XML, bases vectoriales).</a:t>
              </a:r>
              <a:endParaRPr sz="2200">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Tipos de datos y ejemplos prácticos</a:t>
            </a:r>
            <a:endParaRPr/>
          </a:p>
        </p:txBody>
      </p:sp>
      <p:grpSp>
        <p:nvGrpSpPr>
          <p:cNvPr id="207" name="Google Shape;207;p10"/>
          <p:cNvGrpSpPr/>
          <p:nvPr/>
        </p:nvGrpSpPr>
        <p:grpSpPr>
          <a:xfrm>
            <a:off x="1107171" y="1874729"/>
            <a:ext cx="10038617" cy="3965369"/>
            <a:chOff x="9891" y="28995"/>
            <a:chExt cx="10038617" cy="3965369"/>
          </a:xfrm>
        </p:grpSpPr>
        <p:sp>
          <p:nvSpPr>
            <p:cNvPr id="208" name="Google Shape;208;p10"/>
            <p:cNvSpPr/>
            <p:nvPr/>
          </p:nvSpPr>
          <p:spPr>
            <a:xfrm>
              <a:off x="983787" y="28995"/>
              <a:ext cx="1048810" cy="1048810"/>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9891" y="1248316"/>
              <a:ext cx="2996602" cy="4494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txBox="1"/>
            <p:nvPr/>
          </p:nvSpPr>
          <p:spPr>
            <a:xfrm>
              <a:off x="9891" y="1248316"/>
              <a:ext cx="2996602" cy="44949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rPr b="1" lang="es-MX" sz="2800">
                  <a:solidFill>
                    <a:schemeClr val="dk1"/>
                  </a:solidFill>
                  <a:latin typeface="Calibri"/>
                  <a:ea typeface="Calibri"/>
                  <a:cs typeface="Calibri"/>
                  <a:sym typeface="Calibri"/>
                </a:rPr>
                <a:t>Documentos:</a:t>
              </a:r>
              <a:endParaRPr sz="2800">
                <a:solidFill>
                  <a:schemeClr val="dk1"/>
                </a:solidFill>
                <a:latin typeface="Calibri"/>
                <a:ea typeface="Calibri"/>
                <a:cs typeface="Calibri"/>
                <a:sym typeface="Calibri"/>
              </a:endParaRPr>
            </a:p>
          </p:txBody>
        </p:sp>
        <p:sp>
          <p:nvSpPr>
            <p:cNvPr id="211" name="Google Shape;211;p10"/>
            <p:cNvSpPr/>
            <p:nvPr/>
          </p:nvSpPr>
          <p:spPr>
            <a:xfrm>
              <a:off x="9891" y="1777114"/>
              <a:ext cx="2996602" cy="22172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txBox="1"/>
            <p:nvPr/>
          </p:nvSpPr>
          <p:spPr>
            <a:xfrm>
              <a:off x="9891" y="1777114"/>
              <a:ext cx="2996602" cy="22172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Archivos como PDF, Word, y presentaciones.</a:t>
              </a:r>
              <a:endParaRPr sz="1700">
                <a:solidFill>
                  <a:schemeClr val="dk1"/>
                </a:solidFill>
                <a:latin typeface="Calibri"/>
                <a:ea typeface="Calibri"/>
                <a:cs typeface="Calibri"/>
                <a:sym typeface="Calibri"/>
              </a:endParaRPr>
            </a:p>
          </p:txBody>
        </p:sp>
        <p:sp>
          <p:nvSpPr>
            <p:cNvPr id="213" name="Google Shape;213;p10"/>
            <p:cNvSpPr/>
            <p:nvPr/>
          </p:nvSpPr>
          <p:spPr>
            <a:xfrm>
              <a:off x="4504794" y="28995"/>
              <a:ext cx="1048810" cy="1048810"/>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3530898" y="1248316"/>
              <a:ext cx="2996602" cy="4494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txBox="1"/>
            <p:nvPr/>
          </p:nvSpPr>
          <p:spPr>
            <a:xfrm>
              <a:off x="3530898" y="1248316"/>
              <a:ext cx="2996602" cy="44949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rPr b="1" lang="es-MX" sz="2800">
                  <a:solidFill>
                    <a:schemeClr val="dk1"/>
                  </a:solidFill>
                  <a:latin typeface="Calibri"/>
                  <a:ea typeface="Calibri"/>
                  <a:cs typeface="Calibri"/>
                  <a:sym typeface="Calibri"/>
                </a:rPr>
                <a:t>Hojas de cálculo:</a:t>
              </a:r>
              <a:endParaRPr sz="2800">
                <a:solidFill>
                  <a:schemeClr val="dk1"/>
                </a:solidFill>
                <a:latin typeface="Calibri"/>
                <a:ea typeface="Calibri"/>
                <a:cs typeface="Calibri"/>
                <a:sym typeface="Calibri"/>
              </a:endParaRPr>
            </a:p>
          </p:txBody>
        </p:sp>
        <p:sp>
          <p:nvSpPr>
            <p:cNvPr id="216" name="Google Shape;216;p10"/>
            <p:cNvSpPr/>
            <p:nvPr/>
          </p:nvSpPr>
          <p:spPr>
            <a:xfrm>
              <a:off x="3530898" y="1777114"/>
              <a:ext cx="2996602" cy="22172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txBox="1"/>
            <p:nvPr/>
          </p:nvSpPr>
          <p:spPr>
            <a:xfrm>
              <a:off x="3530898" y="1777114"/>
              <a:ext cx="2996602" cy="22172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Datos tabulares almacenados en Excel o Google Sheets.</a:t>
              </a:r>
              <a:endParaRPr sz="1700">
                <a:solidFill>
                  <a:schemeClr val="dk1"/>
                </a:solidFill>
                <a:latin typeface="Calibri"/>
                <a:ea typeface="Calibri"/>
                <a:cs typeface="Calibri"/>
                <a:sym typeface="Calibri"/>
              </a:endParaRPr>
            </a:p>
          </p:txBody>
        </p:sp>
        <p:sp>
          <p:nvSpPr>
            <p:cNvPr id="218" name="Google Shape;218;p10"/>
            <p:cNvSpPr/>
            <p:nvPr/>
          </p:nvSpPr>
          <p:spPr>
            <a:xfrm>
              <a:off x="8083161" y="35791"/>
              <a:ext cx="1048810" cy="1048810"/>
            </a:xfrm>
            <a:prstGeom prst="rect">
              <a:avLst/>
            </a:prstGeom>
            <a:blipFill rotWithShape="1">
              <a:blip r:embed="rId5">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7051906" y="1248316"/>
              <a:ext cx="2996602" cy="4494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txBox="1"/>
            <p:nvPr/>
          </p:nvSpPr>
          <p:spPr>
            <a:xfrm>
              <a:off x="7051906" y="1248316"/>
              <a:ext cx="2996602" cy="44949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rPr b="1" lang="es-MX" sz="2800">
                  <a:solidFill>
                    <a:schemeClr val="dk1"/>
                  </a:solidFill>
                  <a:latin typeface="Calibri"/>
                  <a:ea typeface="Calibri"/>
                  <a:cs typeface="Calibri"/>
                  <a:sym typeface="Calibri"/>
                </a:rPr>
                <a:t>Videos:</a:t>
              </a:r>
              <a:endParaRPr sz="2800">
                <a:solidFill>
                  <a:schemeClr val="dk1"/>
                </a:solidFill>
                <a:latin typeface="Calibri"/>
                <a:ea typeface="Calibri"/>
                <a:cs typeface="Calibri"/>
                <a:sym typeface="Calibri"/>
              </a:endParaRPr>
            </a:p>
          </p:txBody>
        </p:sp>
        <p:sp>
          <p:nvSpPr>
            <p:cNvPr id="221" name="Google Shape;221;p10"/>
            <p:cNvSpPr/>
            <p:nvPr/>
          </p:nvSpPr>
          <p:spPr>
            <a:xfrm>
              <a:off x="7051906" y="1777114"/>
              <a:ext cx="2996602" cy="22172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txBox="1"/>
            <p:nvPr/>
          </p:nvSpPr>
          <p:spPr>
            <a:xfrm>
              <a:off x="7051906" y="1777114"/>
              <a:ext cx="2996602" cy="22172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Archivos multimedia que contienen información visual y auditiva.</a:t>
              </a:r>
              <a:endParaRPr sz="1700">
                <a:solidFill>
                  <a:schemeClr val="dk1"/>
                </a:solidFill>
                <a:latin typeface="Calibri"/>
                <a:ea typeface="Calibri"/>
                <a:cs typeface="Calibri"/>
                <a:sym typeface="Calibri"/>
              </a:endParaRPr>
            </a:p>
            <a:p>
              <a:pPr indent="0" lvl="0" marL="0" marR="0" rtl="0" algn="ctr">
                <a:lnSpc>
                  <a:spcPct val="100000"/>
                </a:lnSpc>
                <a:spcBef>
                  <a:spcPts val="595"/>
                </a:spcBef>
                <a:spcAft>
                  <a:spcPts val="0"/>
                </a:spcAft>
                <a:buClr>
                  <a:schemeClr val="dk1"/>
                </a:buClr>
                <a:buSzPts val="1700"/>
                <a:buFont typeface="Calibri"/>
                <a:buNone/>
              </a:pPr>
              <a:r>
                <a:rPr b="1" lang="es-MX" sz="1700">
                  <a:solidFill>
                    <a:schemeClr val="dk1"/>
                  </a:solidFill>
                  <a:latin typeface="Calibri"/>
                  <a:ea typeface="Calibri"/>
                  <a:cs typeface="Calibri"/>
                  <a:sym typeface="Calibri"/>
                </a:rPr>
                <a:t>Caso práctico:</a:t>
              </a:r>
              <a:r>
                <a:rPr lang="es-MX" sz="1700">
                  <a:solidFill>
                    <a:schemeClr val="dk1"/>
                  </a:solidFill>
                  <a:latin typeface="Calibri"/>
                  <a:ea typeface="Calibri"/>
                  <a:cs typeface="Calibri"/>
                  <a:sym typeface="Calibri"/>
                </a:rPr>
                <a:t> Extracción de metadatos (duración, resolución) o generación de transcripciones con bibliotecas como FFmpeg o Google Speech-to-Text.</a:t>
              </a:r>
              <a:endParaRPr sz="1700">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Tipos de datos y ejemplos prácticos</a:t>
            </a:r>
            <a:endParaRPr/>
          </a:p>
        </p:txBody>
      </p:sp>
      <p:grpSp>
        <p:nvGrpSpPr>
          <p:cNvPr id="228" name="Google Shape;228;p11"/>
          <p:cNvGrpSpPr/>
          <p:nvPr/>
        </p:nvGrpSpPr>
        <p:grpSpPr>
          <a:xfrm>
            <a:off x="1428479" y="1948459"/>
            <a:ext cx="9396000" cy="3817909"/>
            <a:chOff x="331199" y="102725"/>
            <a:chExt cx="9396000" cy="3817909"/>
          </a:xfrm>
        </p:grpSpPr>
        <p:sp>
          <p:nvSpPr>
            <p:cNvPr id="229" name="Google Shape;229;p11"/>
            <p:cNvSpPr/>
            <p:nvPr/>
          </p:nvSpPr>
          <p:spPr>
            <a:xfrm>
              <a:off x="1735199" y="102725"/>
              <a:ext cx="1512000" cy="1512000"/>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331199" y="1778895"/>
              <a:ext cx="4320000" cy="64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txBox="1"/>
            <p:nvPr/>
          </p:nvSpPr>
          <p:spPr>
            <a:xfrm>
              <a:off x="331199" y="1778895"/>
              <a:ext cx="4320000" cy="6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600"/>
                <a:buFont typeface="Calibri"/>
                <a:buNone/>
              </a:pPr>
              <a:r>
                <a:rPr b="1" lang="es-MX" sz="3600">
                  <a:solidFill>
                    <a:schemeClr val="dk1"/>
                  </a:solidFill>
                  <a:latin typeface="Calibri"/>
                  <a:ea typeface="Calibri"/>
                  <a:cs typeface="Calibri"/>
                  <a:sym typeface="Calibri"/>
                </a:rPr>
                <a:t>Grafos:</a:t>
              </a:r>
              <a:endParaRPr sz="3600">
                <a:solidFill>
                  <a:schemeClr val="dk1"/>
                </a:solidFill>
                <a:latin typeface="Calibri"/>
                <a:ea typeface="Calibri"/>
                <a:cs typeface="Calibri"/>
                <a:sym typeface="Calibri"/>
              </a:endParaRPr>
            </a:p>
          </p:txBody>
        </p:sp>
        <p:sp>
          <p:nvSpPr>
            <p:cNvPr id="232" name="Google Shape;232;p11"/>
            <p:cNvSpPr/>
            <p:nvPr/>
          </p:nvSpPr>
          <p:spPr>
            <a:xfrm>
              <a:off x="331199" y="2503253"/>
              <a:ext cx="4320000" cy="141738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txBox="1"/>
            <p:nvPr/>
          </p:nvSpPr>
          <p:spPr>
            <a:xfrm>
              <a:off x="331199" y="2503253"/>
              <a:ext cx="4320000" cy="14173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Representación de datos en nodos y aristas (e.g., redes sociales, grafos de conocimiento).</a:t>
              </a:r>
              <a:endParaRPr sz="1700">
                <a:solidFill>
                  <a:schemeClr val="dk1"/>
                </a:solidFill>
                <a:latin typeface="Calibri"/>
                <a:ea typeface="Calibri"/>
                <a:cs typeface="Calibri"/>
                <a:sym typeface="Calibri"/>
              </a:endParaRPr>
            </a:p>
          </p:txBody>
        </p:sp>
        <p:sp>
          <p:nvSpPr>
            <p:cNvPr id="234" name="Google Shape;234;p11"/>
            <p:cNvSpPr/>
            <p:nvPr/>
          </p:nvSpPr>
          <p:spPr>
            <a:xfrm>
              <a:off x="6811200" y="102725"/>
              <a:ext cx="1512000" cy="1512000"/>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5407199" y="1778895"/>
              <a:ext cx="4320000" cy="64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txBox="1"/>
            <p:nvPr/>
          </p:nvSpPr>
          <p:spPr>
            <a:xfrm>
              <a:off x="5407199" y="1778895"/>
              <a:ext cx="4320000" cy="6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600"/>
                <a:buFont typeface="Calibri"/>
                <a:buNone/>
              </a:pPr>
              <a:r>
                <a:rPr b="1" lang="es-MX" sz="3600">
                  <a:solidFill>
                    <a:schemeClr val="dk1"/>
                  </a:solidFill>
                  <a:latin typeface="Calibri"/>
                  <a:ea typeface="Calibri"/>
                  <a:cs typeface="Calibri"/>
                  <a:sym typeface="Calibri"/>
                </a:rPr>
                <a:t>Textos:</a:t>
              </a:r>
              <a:endParaRPr sz="3600">
                <a:solidFill>
                  <a:schemeClr val="dk1"/>
                </a:solidFill>
                <a:latin typeface="Calibri"/>
                <a:ea typeface="Calibri"/>
                <a:cs typeface="Calibri"/>
                <a:sym typeface="Calibri"/>
              </a:endParaRPr>
            </a:p>
          </p:txBody>
        </p:sp>
        <p:sp>
          <p:nvSpPr>
            <p:cNvPr id="237" name="Google Shape;237;p11"/>
            <p:cNvSpPr/>
            <p:nvPr/>
          </p:nvSpPr>
          <p:spPr>
            <a:xfrm>
              <a:off x="5407199" y="2503253"/>
              <a:ext cx="4320000" cy="141738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txBox="1"/>
            <p:nvPr/>
          </p:nvSpPr>
          <p:spPr>
            <a:xfrm>
              <a:off x="5407199" y="2503253"/>
              <a:ext cx="4320000" cy="14173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Documentos en lenguaje natural como correos electrónicos, publicaciones en redes sociales o artículos.</a:t>
              </a:r>
              <a:endParaRPr sz="1700">
                <a:solidFill>
                  <a:schemeClr val="dk1"/>
                </a:solidFill>
                <a:latin typeface="Calibri"/>
                <a:ea typeface="Calibri"/>
                <a:cs typeface="Calibri"/>
                <a:sym typeface="Calibri"/>
              </a:endParaRPr>
            </a:p>
            <a:p>
              <a:pPr indent="0" lvl="0" marL="0" marR="0" rtl="0" algn="ctr">
                <a:lnSpc>
                  <a:spcPct val="100000"/>
                </a:lnSpc>
                <a:spcBef>
                  <a:spcPts val="595"/>
                </a:spcBef>
                <a:spcAft>
                  <a:spcPts val="0"/>
                </a:spcAft>
                <a:buClr>
                  <a:schemeClr val="dk1"/>
                </a:buClr>
                <a:buSzPts val="1700"/>
                <a:buFont typeface="Calibri"/>
                <a:buNone/>
              </a:pPr>
              <a:r>
                <a:rPr b="1" lang="es-MX" sz="1700">
                  <a:solidFill>
                    <a:schemeClr val="dk1"/>
                  </a:solidFill>
                  <a:latin typeface="Calibri"/>
                  <a:ea typeface="Calibri"/>
                  <a:cs typeface="Calibri"/>
                  <a:sym typeface="Calibri"/>
                </a:rPr>
                <a:t>Caso práctico:</a:t>
              </a:r>
              <a:r>
                <a:rPr lang="es-MX" sz="1700">
                  <a:solidFill>
                    <a:schemeClr val="dk1"/>
                  </a:solidFill>
                  <a:latin typeface="Calibri"/>
                  <a:ea typeface="Calibri"/>
                  <a:cs typeface="Calibri"/>
                  <a:sym typeface="Calibri"/>
                </a:rPr>
                <a:t> Procesamiento de texto con bibliotecas como NLTK o spaCy.</a:t>
              </a:r>
              <a:endParaRPr sz="1700">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Tipos de datos y ejemplos prácticos</a:t>
            </a:r>
            <a:endParaRPr/>
          </a:p>
        </p:txBody>
      </p:sp>
      <p:grpSp>
        <p:nvGrpSpPr>
          <p:cNvPr id="244" name="Google Shape;244;p12"/>
          <p:cNvGrpSpPr/>
          <p:nvPr/>
        </p:nvGrpSpPr>
        <p:grpSpPr>
          <a:xfrm>
            <a:off x="1099032" y="2118509"/>
            <a:ext cx="3142968" cy="3477809"/>
            <a:chOff x="1752" y="272775"/>
            <a:chExt cx="3142968" cy="3477809"/>
          </a:xfrm>
        </p:grpSpPr>
        <p:sp>
          <p:nvSpPr>
            <p:cNvPr id="245" name="Google Shape;245;p12"/>
            <p:cNvSpPr/>
            <p:nvPr/>
          </p:nvSpPr>
          <p:spPr>
            <a:xfrm>
              <a:off x="1023217" y="272775"/>
              <a:ext cx="1100039" cy="1100039"/>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1752" y="1522360"/>
              <a:ext cx="3142968" cy="4714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txBox="1"/>
            <p:nvPr/>
          </p:nvSpPr>
          <p:spPr>
            <a:xfrm>
              <a:off x="1752" y="1522360"/>
              <a:ext cx="3142968" cy="47144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000"/>
                <a:buFont typeface="Calibri"/>
                <a:buNone/>
              </a:pPr>
              <a:r>
                <a:rPr b="1" lang="es-MX" sz="3000">
                  <a:solidFill>
                    <a:schemeClr val="dk1"/>
                  </a:solidFill>
                  <a:latin typeface="Calibri"/>
                  <a:ea typeface="Calibri"/>
                  <a:cs typeface="Calibri"/>
                  <a:sym typeface="Calibri"/>
                </a:rPr>
                <a:t>Documentos:</a:t>
              </a:r>
              <a:endParaRPr sz="3000">
                <a:solidFill>
                  <a:schemeClr val="dk1"/>
                </a:solidFill>
                <a:latin typeface="Calibri"/>
                <a:ea typeface="Calibri"/>
                <a:cs typeface="Calibri"/>
                <a:sym typeface="Calibri"/>
              </a:endParaRPr>
            </a:p>
          </p:txBody>
        </p:sp>
        <p:sp>
          <p:nvSpPr>
            <p:cNvPr id="248" name="Google Shape;248;p12"/>
            <p:cNvSpPr/>
            <p:nvPr/>
          </p:nvSpPr>
          <p:spPr>
            <a:xfrm>
              <a:off x="1752" y="2063361"/>
              <a:ext cx="3142968" cy="16872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txBox="1"/>
            <p:nvPr/>
          </p:nvSpPr>
          <p:spPr>
            <a:xfrm>
              <a:off x="1752" y="2063361"/>
              <a:ext cx="3142968" cy="168722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Archivos como PDF, Word, y presentaciones.</a:t>
              </a:r>
              <a:endParaRPr sz="1700">
                <a:solidFill>
                  <a:schemeClr val="dk1"/>
                </a:solidFill>
                <a:latin typeface="Calibri"/>
                <a:ea typeface="Calibri"/>
                <a:cs typeface="Calibri"/>
                <a:sym typeface="Calibri"/>
              </a:endParaRPr>
            </a:p>
            <a:p>
              <a:pPr indent="0" lvl="0" marL="0" marR="0" rtl="0" algn="ctr">
                <a:lnSpc>
                  <a:spcPct val="100000"/>
                </a:lnSpc>
                <a:spcBef>
                  <a:spcPts val="595"/>
                </a:spcBef>
                <a:spcAft>
                  <a:spcPts val="0"/>
                </a:spcAft>
                <a:buClr>
                  <a:schemeClr val="dk1"/>
                </a:buClr>
                <a:buSzPts val="1700"/>
                <a:buFont typeface="Calibri"/>
                <a:buNone/>
              </a:pPr>
              <a:r>
                <a:rPr b="1" lang="es-MX" sz="1700">
                  <a:solidFill>
                    <a:schemeClr val="dk1"/>
                  </a:solidFill>
                  <a:latin typeface="Calibri"/>
                  <a:ea typeface="Calibri"/>
                  <a:cs typeface="Calibri"/>
                  <a:sym typeface="Calibri"/>
                </a:rPr>
                <a:t>Caso práctico:</a:t>
              </a:r>
              <a:r>
                <a:rPr lang="es-MX" sz="1700">
                  <a:solidFill>
                    <a:schemeClr val="dk1"/>
                  </a:solidFill>
                  <a:latin typeface="Calibri"/>
                  <a:ea typeface="Calibri"/>
                  <a:cs typeface="Calibri"/>
                  <a:sym typeface="Calibri"/>
                </a:rPr>
                <a:t> Procesar contenido de documentos para extraer texto relevante usando OCR o bibliotecas como PyPDF2.</a:t>
              </a:r>
              <a:endParaRPr sz="1700">
                <a:solidFill>
                  <a:schemeClr val="dk1"/>
                </a:solidFill>
                <a:latin typeface="Calibri"/>
                <a:ea typeface="Calibri"/>
                <a:cs typeface="Calibri"/>
                <a:sym typeface="Calibri"/>
              </a:endParaRPr>
            </a:p>
          </p:txBody>
        </p:sp>
      </p:grpSp>
      <p:pic>
        <p:nvPicPr>
          <p:cNvPr id="250" name="Google Shape;250;p12"/>
          <p:cNvPicPr preferRelativeResize="0"/>
          <p:nvPr/>
        </p:nvPicPr>
        <p:blipFill rotWithShape="1">
          <a:blip r:embed="rId4">
            <a:alphaModFix/>
          </a:blip>
          <a:srcRect b="0" l="0" r="0" t="0"/>
          <a:stretch/>
        </p:blipFill>
        <p:spPr>
          <a:xfrm>
            <a:off x="5995180" y="1845734"/>
            <a:ext cx="5099540" cy="440756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Tipos de datos y ejemplos prácticos</a:t>
            </a:r>
            <a:endParaRPr/>
          </a:p>
        </p:txBody>
      </p:sp>
      <p:pic>
        <p:nvPicPr>
          <p:cNvPr id="256" name="Google Shape;256;p13"/>
          <p:cNvPicPr preferRelativeResize="0"/>
          <p:nvPr/>
        </p:nvPicPr>
        <p:blipFill rotWithShape="1">
          <a:blip r:embed="rId3">
            <a:alphaModFix/>
          </a:blip>
          <a:srcRect b="0" l="0" r="0" t="0"/>
          <a:stretch/>
        </p:blipFill>
        <p:spPr>
          <a:xfrm>
            <a:off x="4765486" y="2362768"/>
            <a:ext cx="6390194" cy="2757873"/>
          </a:xfrm>
          <a:prstGeom prst="rect">
            <a:avLst/>
          </a:prstGeom>
          <a:noFill/>
          <a:ln>
            <a:noFill/>
          </a:ln>
        </p:spPr>
      </p:pic>
      <p:grpSp>
        <p:nvGrpSpPr>
          <p:cNvPr id="257" name="Google Shape;257;p13"/>
          <p:cNvGrpSpPr/>
          <p:nvPr/>
        </p:nvGrpSpPr>
        <p:grpSpPr>
          <a:xfrm>
            <a:off x="1098585" y="2230782"/>
            <a:ext cx="3261093" cy="3253263"/>
            <a:chOff x="1305" y="385048"/>
            <a:chExt cx="3261093" cy="3253263"/>
          </a:xfrm>
        </p:grpSpPr>
        <p:sp>
          <p:nvSpPr>
            <p:cNvPr id="258" name="Google Shape;258;p13"/>
            <p:cNvSpPr/>
            <p:nvPr/>
          </p:nvSpPr>
          <p:spPr>
            <a:xfrm>
              <a:off x="1061161" y="385048"/>
              <a:ext cx="1141382" cy="1141382"/>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1305" y="1666321"/>
              <a:ext cx="3261093" cy="48916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txBox="1"/>
            <p:nvPr/>
          </p:nvSpPr>
          <p:spPr>
            <a:xfrm>
              <a:off x="1305" y="1666321"/>
              <a:ext cx="3261093" cy="4891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100"/>
                <a:buFont typeface="Calibri"/>
                <a:buNone/>
              </a:pPr>
              <a:r>
                <a:rPr b="1" lang="es-MX" sz="3100">
                  <a:solidFill>
                    <a:schemeClr val="dk1"/>
                  </a:solidFill>
                  <a:latin typeface="Calibri"/>
                  <a:ea typeface="Calibri"/>
                  <a:cs typeface="Calibri"/>
                  <a:sym typeface="Calibri"/>
                </a:rPr>
                <a:t>Hojas de cálculo:</a:t>
              </a:r>
              <a:endParaRPr sz="3100">
                <a:solidFill>
                  <a:schemeClr val="dk1"/>
                </a:solidFill>
                <a:latin typeface="Calibri"/>
                <a:ea typeface="Calibri"/>
                <a:cs typeface="Calibri"/>
                <a:sym typeface="Calibri"/>
              </a:endParaRPr>
            </a:p>
          </p:txBody>
        </p:sp>
        <p:sp>
          <p:nvSpPr>
            <p:cNvPr id="261" name="Google Shape;261;p13"/>
            <p:cNvSpPr/>
            <p:nvPr/>
          </p:nvSpPr>
          <p:spPr>
            <a:xfrm>
              <a:off x="1305" y="2220550"/>
              <a:ext cx="3261093" cy="141776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txBox="1"/>
            <p:nvPr/>
          </p:nvSpPr>
          <p:spPr>
            <a:xfrm>
              <a:off x="1305" y="2220550"/>
              <a:ext cx="3261093" cy="141776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Datos tabulares almacenados en Excel o Google Sheets.</a:t>
              </a:r>
              <a:endParaRPr sz="1700">
                <a:solidFill>
                  <a:schemeClr val="dk1"/>
                </a:solidFill>
                <a:latin typeface="Calibri"/>
                <a:ea typeface="Calibri"/>
                <a:cs typeface="Calibri"/>
                <a:sym typeface="Calibri"/>
              </a:endParaRPr>
            </a:p>
            <a:p>
              <a:pPr indent="0" lvl="0" marL="0" marR="0" rtl="0" algn="ctr">
                <a:lnSpc>
                  <a:spcPct val="100000"/>
                </a:lnSpc>
                <a:spcBef>
                  <a:spcPts val="595"/>
                </a:spcBef>
                <a:spcAft>
                  <a:spcPts val="0"/>
                </a:spcAft>
                <a:buClr>
                  <a:schemeClr val="dk1"/>
                </a:buClr>
                <a:buSzPts val="1700"/>
                <a:buFont typeface="Calibri"/>
                <a:buNone/>
              </a:pPr>
              <a:r>
                <a:rPr b="1" lang="es-MX" sz="1700">
                  <a:solidFill>
                    <a:schemeClr val="dk1"/>
                  </a:solidFill>
                  <a:latin typeface="Calibri"/>
                  <a:ea typeface="Calibri"/>
                  <a:cs typeface="Calibri"/>
                  <a:sym typeface="Calibri"/>
                </a:rPr>
                <a:t>Caso práctico:</a:t>
              </a:r>
              <a:r>
                <a:rPr lang="es-MX" sz="1700">
                  <a:solidFill>
                    <a:schemeClr val="dk1"/>
                  </a:solidFill>
                  <a:latin typeface="Calibri"/>
                  <a:ea typeface="Calibri"/>
                  <a:cs typeface="Calibri"/>
                  <a:sym typeface="Calibri"/>
                </a:rPr>
                <a:t> Manejo de datos desordenados o inconsistentes con Pandas.</a:t>
              </a:r>
              <a:endParaRPr sz="1700">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Tipos de datos y ejemplos prácticos</a:t>
            </a:r>
            <a:endParaRPr/>
          </a:p>
        </p:txBody>
      </p:sp>
      <p:pic>
        <p:nvPicPr>
          <p:cNvPr id="268" name="Google Shape;268;p14"/>
          <p:cNvPicPr preferRelativeResize="0"/>
          <p:nvPr/>
        </p:nvPicPr>
        <p:blipFill rotWithShape="1">
          <a:blip r:embed="rId3">
            <a:alphaModFix/>
          </a:blip>
          <a:srcRect b="0" l="0" r="0" t="0"/>
          <a:stretch/>
        </p:blipFill>
        <p:spPr>
          <a:xfrm>
            <a:off x="5193792" y="1881895"/>
            <a:ext cx="5657088" cy="4193114"/>
          </a:xfrm>
          <a:prstGeom prst="rect">
            <a:avLst/>
          </a:prstGeom>
          <a:noFill/>
          <a:ln>
            <a:noFill/>
          </a:ln>
        </p:spPr>
      </p:pic>
      <p:grpSp>
        <p:nvGrpSpPr>
          <p:cNvPr id="269" name="Google Shape;269;p14"/>
          <p:cNvGrpSpPr/>
          <p:nvPr/>
        </p:nvGrpSpPr>
        <p:grpSpPr>
          <a:xfrm>
            <a:off x="1098624" y="2170667"/>
            <a:ext cx="3472031" cy="3373493"/>
            <a:chOff x="1344" y="324933"/>
            <a:chExt cx="3472031" cy="3373493"/>
          </a:xfrm>
        </p:grpSpPr>
        <p:sp>
          <p:nvSpPr>
            <p:cNvPr id="270" name="Google Shape;270;p14"/>
            <p:cNvSpPr/>
            <p:nvPr/>
          </p:nvSpPr>
          <p:spPr>
            <a:xfrm>
              <a:off x="1129754" y="324933"/>
              <a:ext cx="1215210" cy="1215210"/>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
            <p:cNvSpPr/>
            <p:nvPr/>
          </p:nvSpPr>
          <p:spPr>
            <a:xfrm>
              <a:off x="1344" y="1685204"/>
              <a:ext cx="3472031" cy="5208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txBox="1"/>
            <p:nvPr/>
          </p:nvSpPr>
          <p:spPr>
            <a:xfrm>
              <a:off x="1344" y="1685204"/>
              <a:ext cx="3472031" cy="5208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300"/>
                <a:buFont typeface="Calibri"/>
                <a:buNone/>
              </a:pPr>
              <a:r>
                <a:rPr b="1" lang="es-MX" sz="3300">
                  <a:solidFill>
                    <a:schemeClr val="dk1"/>
                  </a:solidFill>
                  <a:latin typeface="Calibri"/>
                  <a:ea typeface="Calibri"/>
                  <a:cs typeface="Calibri"/>
                  <a:sym typeface="Calibri"/>
                </a:rPr>
                <a:t>Grafos:</a:t>
              </a:r>
              <a:endParaRPr sz="3300">
                <a:solidFill>
                  <a:schemeClr val="dk1"/>
                </a:solidFill>
                <a:latin typeface="Calibri"/>
                <a:ea typeface="Calibri"/>
                <a:cs typeface="Calibri"/>
                <a:sym typeface="Calibri"/>
              </a:endParaRPr>
            </a:p>
          </p:txBody>
        </p:sp>
        <p:sp>
          <p:nvSpPr>
            <p:cNvPr id="273" name="Google Shape;273;p14"/>
            <p:cNvSpPr/>
            <p:nvPr/>
          </p:nvSpPr>
          <p:spPr>
            <a:xfrm>
              <a:off x="1344" y="2273479"/>
              <a:ext cx="3472031" cy="142494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txBox="1"/>
            <p:nvPr/>
          </p:nvSpPr>
          <p:spPr>
            <a:xfrm>
              <a:off x="1344" y="2273479"/>
              <a:ext cx="3472031" cy="142494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Representación de datos en nodos y aristas (e.g., redes sociales, grafos de conocimiento).</a:t>
              </a:r>
              <a:endParaRPr sz="1700">
                <a:solidFill>
                  <a:schemeClr val="dk1"/>
                </a:solidFill>
                <a:latin typeface="Calibri"/>
                <a:ea typeface="Calibri"/>
                <a:cs typeface="Calibri"/>
                <a:sym typeface="Calibri"/>
              </a:endParaRPr>
            </a:p>
            <a:p>
              <a:pPr indent="0" lvl="0" marL="0" marR="0" rtl="0" algn="ctr">
                <a:lnSpc>
                  <a:spcPct val="100000"/>
                </a:lnSpc>
                <a:spcBef>
                  <a:spcPts val="595"/>
                </a:spcBef>
                <a:spcAft>
                  <a:spcPts val="0"/>
                </a:spcAft>
                <a:buClr>
                  <a:schemeClr val="dk1"/>
                </a:buClr>
                <a:buSzPts val="1700"/>
                <a:buFont typeface="Calibri"/>
                <a:buNone/>
              </a:pPr>
              <a:r>
                <a:rPr b="1" lang="es-MX" sz="1700">
                  <a:solidFill>
                    <a:schemeClr val="dk1"/>
                  </a:solidFill>
                  <a:latin typeface="Calibri"/>
                  <a:ea typeface="Calibri"/>
                  <a:cs typeface="Calibri"/>
                  <a:sym typeface="Calibri"/>
                </a:rPr>
                <a:t>Caso práctico:</a:t>
              </a:r>
              <a:r>
                <a:rPr lang="es-MX" sz="1700">
                  <a:solidFill>
                    <a:schemeClr val="dk1"/>
                  </a:solidFill>
                  <a:latin typeface="Calibri"/>
                  <a:ea typeface="Calibri"/>
                  <a:cs typeface="Calibri"/>
                  <a:sym typeface="Calibri"/>
                </a:rPr>
                <a:t> Uso de NetworkX para analizar relaciones entre entidades.</a:t>
              </a:r>
              <a:endParaRPr sz="1700">
                <a:solidFill>
                  <a:schemeClr val="dk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Herramientas para el manejo de datos no estructurados y semiestructurados</a:t>
            </a:r>
            <a:endParaRPr/>
          </a:p>
        </p:txBody>
      </p:sp>
      <p:sp>
        <p:nvSpPr>
          <p:cNvPr id="280" name="Google Shape;280;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Font typeface="Arial"/>
              <a:buChar char="•"/>
            </a:pPr>
            <a:r>
              <a:rPr b="1" lang="es-MX"/>
              <a:t>Apache Hadoop:</a:t>
            </a:r>
            <a:r>
              <a:rPr lang="es-MX"/>
              <a:t> Procesamiento distribuido para grandes volúmenes de datos estructurados y no estructurados.</a:t>
            </a:r>
            <a:endParaRPr/>
          </a:p>
          <a:p>
            <a:pPr indent="-127000" lvl="0" marL="91440" rtl="0" algn="l">
              <a:lnSpc>
                <a:spcPct val="90000"/>
              </a:lnSpc>
              <a:spcBef>
                <a:spcPts val="1400"/>
              </a:spcBef>
              <a:spcAft>
                <a:spcPts val="0"/>
              </a:spcAft>
              <a:buSzPts val="2000"/>
              <a:buFont typeface="Arial"/>
              <a:buChar char="•"/>
            </a:pPr>
            <a:r>
              <a:rPr b="1" lang="es-MX"/>
              <a:t>MongoDB:</a:t>
            </a:r>
            <a:r>
              <a:rPr lang="es-MX"/>
              <a:t> Base de datos NoSQL ideal para datos semiestructurados.</a:t>
            </a:r>
            <a:endParaRPr/>
          </a:p>
          <a:p>
            <a:pPr indent="-127000" lvl="0" marL="91440" rtl="0" algn="l">
              <a:lnSpc>
                <a:spcPct val="90000"/>
              </a:lnSpc>
              <a:spcBef>
                <a:spcPts val="1400"/>
              </a:spcBef>
              <a:spcAft>
                <a:spcPts val="0"/>
              </a:spcAft>
              <a:buSzPts val="2000"/>
              <a:buFont typeface="Arial"/>
              <a:buChar char="•"/>
            </a:pPr>
            <a:r>
              <a:rPr b="1" lang="es-MX"/>
              <a:t>ElasticSearch:</a:t>
            </a:r>
            <a:r>
              <a:rPr lang="es-MX"/>
              <a:t> Herramienta para búsqueda y análisis de grandes volúmenes de datos textuales.</a:t>
            </a:r>
            <a:endParaRPr/>
          </a:p>
          <a:p>
            <a:pPr indent="-127000" lvl="0" marL="91440" rtl="0" algn="l">
              <a:lnSpc>
                <a:spcPct val="90000"/>
              </a:lnSpc>
              <a:spcBef>
                <a:spcPts val="1400"/>
              </a:spcBef>
              <a:spcAft>
                <a:spcPts val="0"/>
              </a:spcAft>
              <a:buSzPts val="2000"/>
              <a:buFont typeface="Arial"/>
              <a:buChar char="•"/>
            </a:pPr>
            <a:r>
              <a:rPr b="1" lang="es-MX"/>
              <a:t>Python:</a:t>
            </a:r>
            <a:r>
              <a:rPr lang="es-MX"/>
              <a:t> Bibliotecas clave:</a:t>
            </a:r>
            <a:endParaRPr/>
          </a:p>
          <a:p>
            <a:pPr indent="-285750" lvl="1" marL="742950" rtl="0" algn="l">
              <a:lnSpc>
                <a:spcPct val="90000"/>
              </a:lnSpc>
              <a:spcBef>
                <a:spcPts val="400"/>
              </a:spcBef>
              <a:spcAft>
                <a:spcPts val="0"/>
              </a:spcAft>
              <a:buSzPts val="1800"/>
              <a:buFont typeface="Arial"/>
              <a:buChar char="•"/>
            </a:pPr>
            <a:r>
              <a:rPr b="1" lang="es-MX"/>
              <a:t>PyPDF2:</a:t>
            </a:r>
            <a:r>
              <a:rPr lang="es-MX"/>
              <a:t> Procesamiento de documentos PDF.</a:t>
            </a:r>
            <a:endParaRPr/>
          </a:p>
          <a:p>
            <a:pPr indent="-285750" lvl="1" marL="742950" rtl="0" algn="l">
              <a:lnSpc>
                <a:spcPct val="90000"/>
              </a:lnSpc>
              <a:spcBef>
                <a:spcPts val="600"/>
              </a:spcBef>
              <a:spcAft>
                <a:spcPts val="0"/>
              </a:spcAft>
              <a:buSzPts val="1800"/>
              <a:buFont typeface="Arial"/>
              <a:buChar char="•"/>
            </a:pPr>
            <a:r>
              <a:rPr b="1" lang="es-MX"/>
              <a:t>Pandas, polars, pyspark:</a:t>
            </a:r>
            <a:r>
              <a:rPr lang="es-MX"/>
              <a:t> Manipulación de datos tabulares y hojas de cálculo.</a:t>
            </a:r>
            <a:endParaRPr/>
          </a:p>
          <a:p>
            <a:pPr indent="-285750" lvl="1" marL="742950" rtl="0" algn="l">
              <a:lnSpc>
                <a:spcPct val="90000"/>
              </a:lnSpc>
              <a:spcBef>
                <a:spcPts val="600"/>
              </a:spcBef>
              <a:spcAft>
                <a:spcPts val="0"/>
              </a:spcAft>
              <a:buSzPts val="1800"/>
              <a:buFont typeface="Arial"/>
              <a:buChar char="•"/>
            </a:pPr>
            <a:r>
              <a:rPr b="1" lang="es-MX"/>
              <a:t>FFmpeg:</a:t>
            </a:r>
            <a:r>
              <a:rPr lang="es-MX"/>
              <a:t> Procesamiento de video.</a:t>
            </a:r>
            <a:endParaRPr/>
          </a:p>
          <a:p>
            <a:pPr indent="-285750" lvl="1" marL="742950" rtl="0" algn="l">
              <a:lnSpc>
                <a:spcPct val="90000"/>
              </a:lnSpc>
              <a:spcBef>
                <a:spcPts val="600"/>
              </a:spcBef>
              <a:spcAft>
                <a:spcPts val="0"/>
              </a:spcAft>
              <a:buSzPts val="1800"/>
              <a:buFont typeface="Arial"/>
              <a:buChar char="•"/>
            </a:pPr>
            <a:r>
              <a:rPr b="1" lang="es-MX"/>
              <a:t>NLTK/spaCy:</a:t>
            </a:r>
            <a:r>
              <a:rPr lang="es-MX"/>
              <a:t> Procesamiento de texto.</a:t>
            </a:r>
            <a:endParaRPr/>
          </a:p>
          <a:p>
            <a:pPr indent="-285750" lvl="1" marL="742950" rtl="0" algn="l">
              <a:lnSpc>
                <a:spcPct val="90000"/>
              </a:lnSpc>
              <a:spcBef>
                <a:spcPts val="600"/>
              </a:spcBef>
              <a:spcAft>
                <a:spcPts val="0"/>
              </a:spcAft>
              <a:buSzPts val="1800"/>
              <a:buChar char="•"/>
            </a:pPr>
            <a:r>
              <a:rPr b="1" lang="es-MX"/>
              <a:t>networkx, igraph: </a:t>
            </a:r>
            <a:r>
              <a:rPr lang="es-MX"/>
              <a:t>Gráficas.</a:t>
            </a:r>
            <a:endParaRPr/>
          </a:p>
          <a:p>
            <a:pPr indent="0" lvl="0" marL="91440" rtl="0" algn="l">
              <a:lnSpc>
                <a:spcPct val="90000"/>
              </a:lnSpc>
              <a:spcBef>
                <a:spcPts val="1600"/>
              </a:spcBef>
              <a:spcAft>
                <a:spcPts val="0"/>
              </a:spcAft>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16"/>
          <p:cNvSpPr/>
          <p:nvPr/>
        </p:nvSpPr>
        <p:spPr>
          <a:xfrm>
            <a:off x="0" y="1"/>
            <a:ext cx="12192000"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16"/>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16"/>
          <p:cNvSpPr txBox="1"/>
          <p:nvPr>
            <p:ph type="title"/>
          </p:nvPr>
        </p:nvSpPr>
        <p:spPr>
          <a:xfrm>
            <a:off x="5181601" y="634946"/>
            <a:ext cx="636814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1.3 Integración de datos</a:t>
            </a:r>
            <a:endParaRPr/>
          </a:p>
        </p:txBody>
      </p:sp>
      <p:pic>
        <p:nvPicPr>
          <p:cNvPr descr="Ilustración de cubo dorado y azul abstracto en 3D" id="288" name="Google Shape;288;p16"/>
          <p:cNvPicPr preferRelativeResize="0"/>
          <p:nvPr/>
        </p:nvPicPr>
        <p:blipFill rotWithShape="1">
          <a:blip r:embed="rId3">
            <a:alphaModFix/>
          </a:blip>
          <a:srcRect b="2" l="21241" r="38111" t="0"/>
          <a:stretch/>
        </p:blipFill>
        <p:spPr>
          <a:xfrm>
            <a:off x="20" y="-12128"/>
            <a:ext cx="4654276" cy="6870127"/>
          </a:xfrm>
          <a:prstGeom prst="rect">
            <a:avLst/>
          </a:prstGeom>
          <a:noFill/>
          <a:ln>
            <a:noFill/>
          </a:ln>
        </p:spPr>
      </p:pic>
      <p:cxnSp>
        <p:nvCxnSpPr>
          <p:cNvPr id="289" name="Google Shape;289;p16"/>
          <p:cNvCxnSpPr/>
          <p:nvPr/>
        </p:nvCxnSpPr>
        <p:spPr>
          <a:xfrm>
            <a:off x="5287617" y="2085703"/>
            <a:ext cx="6170686"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290" name="Google Shape;290;p16"/>
          <p:cNvSpPr txBox="1"/>
          <p:nvPr>
            <p:ph idx="1" type="body"/>
          </p:nvPr>
        </p:nvSpPr>
        <p:spPr>
          <a:xfrm>
            <a:off x="5181601" y="2198914"/>
            <a:ext cx="6368142" cy="367018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s-MX"/>
              <a:t>Objetivos</a:t>
            </a:r>
            <a:endParaRPr/>
          </a:p>
          <a:p>
            <a:pPr indent="-127000" lvl="0" marL="91440" rtl="0" algn="l">
              <a:lnSpc>
                <a:spcPct val="90000"/>
              </a:lnSpc>
              <a:spcBef>
                <a:spcPts val="1400"/>
              </a:spcBef>
              <a:spcAft>
                <a:spcPts val="0"/>
              </a:spcAft>
              <a:buSzPts val="2000"/>
              <a:buFont typeface="Arial"/>
              <a:buChar char="•"/>
            </a:pPr>
            <a:r>
              <a:rPr lang="es-MX"/>
              <a:t>Comprender los diferentes enfoques de integración de datos y sus aplicaciones.</a:t>
            </a:r>
            <a:endParaRPr/>
          </a:p>
          <a:p>
            <a:pPr indent="-127000" lvl="0" marL="91440" rtl="0" algn="l">
              <a:lnSpc>
                <a:spcPct val="90000"/>
              </a:lnSpc>
              <a:spcBef>
                <a:spcPts val="1400"/>
              </a:spcBef>
              <a:spcAft>
                <a:spcPts val="0"/>
              </a:spcAft>
              <a:buSzPts val="2000"/>
              <a:buFont typeface="Arial"/>
              <a:buChar char="•"/>
            </a:pPr>
            <a:r>
              <a:rPr lang="es-MX"/>
              <a:t>Explorar el modelo canónico y su importancia en la estandarización de datos.</a:t>
            </a:r>
            <a:endParaRPr/>
          </a:p>
          <a:p>
            <a:pPr indent="-127000" lvl="0" marL="91440" rtl="0" algn="l">
              <a:lnSpc>
                <a:spcPct val="90000"/>
              </a:lnSpc>
              <a:spcBef>
                <a:spcPts val="1400"/>
              </a:spcBef>
              <a:spcAft>
                <a:spcPts val="0"/>
              </a:spcAft>
              <a:buSzPts val="2000"/>
              <a:buFont typeface="Arial"/>
              <a:buChar char="•"/>
            </a:pPr>
            <a:r>
              <a:rPr lang="es-MX"/>
              <a:t>Aprender sobre correspondencia y mapeo de esquemas en la integración de datos.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 name="Shape 294"/>
        <p:cNvGrpSpPr/>
        <p:nvPr/>
      </p:nvGrpSpPr>
      <p:grpSpPr>
        <a:xfrm>
          <a:off x="0" y="0"/>
          <a:ext cx="0" cy="0"/>
          <a:chOff x="0" y="0"/>
          <a:chExt cx="0" cy="0"/>
        </a:xfrm>
      </p:grpSpPr>
      <p:sp>
        <p:nvSpPr>
          <p:cNvPr id="295" name="Google Shape;295;p17"/>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17"/>
          <p:cNvSpPr txBox="1"/>
          <p:nvPr>
            <p:ph type="title"/>
          </p:nvPr>
        </p:nvSpPr>
        <p:spPr>
          <a:xfrm>
            <a:off x="6411685" y="634946"/>
            <a:ext cx="5127171"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Métodos de Integración de Datos</a:t>
            </a:r>
            <a:endParaRPr/>
          </a:p>
        </p:txBody>
      </p:sp>
      <p:pic>
        <p:nvPicPr>
          <p:cNvPr id="297" name="Google Shape;297;p17"/>
          <p:cNvPicPr preferRelativeResize="0"/>
          <p:nvPr/>
        </p:nvPicPr>
        <p:blipFill rotWithShape="1">
          <a:blip r:embed="rId3">
            <a:alphaModFix/>
          </a:blip>
          <a:srcRect b="0" l="0" r="0" t="0"/>
          <a:stretch/>
        </p:blipFill>
        <p:spPr>
          <a:xfrm>
            <a:off x="643192" y="1435870"/>
            <a:ext cx="5451627" cy="3666218"/>
          </a:xfrm>
          <a:prstGeom prst="rect">
            <a:avLst/>
          </a:prstGeom>
          <a:noFill/>
          <a:ln>
            <a:noFill/>
          </a:ln>
        </p:spPr>
      </p:pic>
      <p:cxnSp>
        <p:nvCxnSpPr>
          <p:cNvPr id="298" name="Google Shape;298;p17"/>
          <p:cNvCxnSpPr/>
          <p:nvPr/>
        </p:nvCxnSpPr>
        <p:spPr>
          <a:xfrm>
            <a:off x="6411684" y="2086188"/>
            <a:ext cx="474880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299" name="Google Shape;299;p17"/>
          <p:cNvSpPr txBox="1"/>
          <p:nvPr>
            <p:ph idx="1" type="body"/>
          </p:nvPr>
        </p:nvSpPr>
        <p:spPr>
          <a:xfrm>
            <a:off x="6411684" y="2198914"/>
            <a:ext cx="5127172" cy="367018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s-MX"/>
              <a:t>Integración Materializada</a:t>
            </a:r>
            <a:endParaRPr/>
          </a:p>
          <a:p>
            <a:pPr indent="-127000" lvl="0" marL="91440" rtl="0" algn="l">
              <a:lnSpc>
                <a:spcPct val="90000"/>
              </a:lnSpc>
              <a:spcBef>
                <a:spcPts val="1400"/>
              </a:spcBef>
              <a:spcAft>
                <a:spcPts val="0"/>
              </a:spcAft>
              <a:buSzPts val="2000"/>
              <a:buFont typeface="Arial"/>
              <a:buChar char="•"/>
            </a:pPr>
            <a:r>
              <a:rPr lang="es-MX"/>
              <a:t>Los datos se almacenan en un repositorio centralizado (Data Warehouse).</a:t>
            </a:r>
            <a:endParaRPr/>
          </a:p>
          <a:p>
            <a:pPr indent="-127000" lvl="0" marL="91440" rtl="0" algn="l">
              <a:lnSpc>
                <a:spcPct val="90000"/>
              </a:lnSpc>
              <a:spcBef>
                <a:spcPts val="1400"/>
              </a:spcBef>
              <a:spcAft>
                <a:spcPts val="0"/>
              </a:spcAft>
              <a:buSzPts val="2000"/>
              <a:buFont typeface="Arial"/>
              <a:buChar char="•"/>
            </a:pPr>
            <a:r>
              <a:rPr lang="es-MX"/>
              <a:t>Se actualizan periódicamente mediante procesos ETL.</a:t>
            </a:r>
            <a:endParaRPr/>
          </a:p>
          <a:p>
            <a:pPr indent="-127000" lvl="0" marL="91440" rtl="0" algn="l">
              <a:lnSpc>
                <a:spcPct val="90000"/>
              </a:lnSpc>
              <a:spcBef>
                <a:spcPts val="1400"/>
              </a:spcBef>
              <a:spcAft>
                <a:spcPts val="0"/>
              </a:spcAft>
              <a:buSzPts val="2000"/>
              <a:buFont typeface="Arial"/>
              <a:buChar char="•"/>
            </a:pPr>
            <a:r>
              <a:rPr lang="es-MX"/>
              <a:t>Ejemplo: Consolidación de ventas de una empresa en una única base de datos.</a:t>
            </a:r>
            <a:endParaRPr/>
          </a:p>
        </p:txBody>
      </p:sp>
      <p:sp>
        <p:nvSpPr>
          <p:cNvPr id="300" name="Google Shape;300;p17"/>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17"/>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5" name="Shape 305"/>
        <p:cNvGrpSpPr/>
        <p:nvPr/>
      </p:nvGrpSpPr>
      <p:grpSpPr>
        <a:xfrm>
          <a:off x="0" y="0"/>
          <a:ext cx="0" cy="0"/>
          <a:chOff x="0" y="0"/>
          <a:chExt cx="0" cy="0"/>
        </a:xfrm>
      </p:grpSpPr>
      <p:sp>
        <p:nvSpPr>
          <p:cNvPr id="306" name="Google Shape;306;g3c63abf743c_0_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s-MX"/>
              <a:t>Creaci</a:t>
            </a:r>
            <a:r>
              <a:rPr lang="es-MX"/>
              <a:t>ón de bases a integrar </a:t>
            </a:r>
            <a:endParaRPr/>
          </a:p>
        </p:txBody>
      </p:sp>
      <p:pic>
        <p:nvPicPr>
          <p:cNvPr id="307" name="Google Shape;307;g3c63abf743c_0_0"/>
          <p:cNvPicPr preferRelativeResize="0"/>
          <p:nvPr/>
        </p:nvPicPr>
        <p:blipFill>
          <a:blip r:embed="rId3">
            <a:alphaModFix/>
          </a:blip>
          <a:stretch>
            <a:fillRect/>
          </a:stretch>
        </p:blipFill>
        <p:spPr>
          <a:xfrm>
            <a:off x="1265975" y="1859628"/>
            <a:ext cx="3609975" cy="4324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1" name="Shape 311"/>
        <p:cNvGrpSpPr/>
        <p:nvPr/>
      </p:nvGrpSpPr>
      <p:grpSpPr>
        <a:xfrm>
          <a:off x="0" y="0"/>
          <a:ext cx="0" cy="0"/>
          <a:chOff x="0" y="0"/>
          <a:chExt cx="0" cy="0"/>
        </a:xfrm>
      </p:grpSpPr>
      <p:sp>
        <p:nvSpPr>
          <p:cNvPr id="312" name="Google Shape;312;g3c603bd49f0_0_17"/>
          <p:cNvSpPr txBox="1"/>
          <p:nvPr>
            <p:ph type="title"/>
          </p:nvPr>
        </p:nvSpPr>
        <p:spPr>
          <a:xfrm>
            <a:off x="1066805" y="-494672"/>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s-MX" sz="3200"/>
              <a:t>integraci</a:t>
            </a:r>
            <a:r>
              <a:rPr lang="es-MX" sz="3200"/>
              <a:t>ón materializada en Databricks</a:t>
            </a:r>
            <a:endParaRPr sz="3200"/>
          </a:p>
        </p:txBody>
      </p:sp>
      <p:pic>
        <p:nvPicPr>
          <p:cNvPr id="313" name="Google Shape;313;g3c603bd49f0_0_17"/>
          <p:cNvPicPr preferRelativeResize="0"/>
          <p:nvPr/>
        </p:nvPicPr>
        <p:blipFill>
          <a:blip r:embed="rId3">
            <a:alphaModFix/>
          </a:blip>
          <a:stretch>
            <a:fillRect/>
          </a:stretch>
        </p:blipFill>
        <p:spPr>
          <a:xfrm>
            <a:off x="3736400" y="1964228"/>
            <a:ext cx="4914900" cy="3886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 name="Shape 317"/>
        <p:cNvGrpSpPr/>
        <p:nvPr/>
      </p:nvGrpSpPr>
      <p:grpSpPr>
        <a:xfrm>
          <a:off x="0" y="0"/>
          <a:ext cx="0" cy="0"/>
          <a:chOff x="0" y="0"/>
          <a:chExt cx="0" cy="0"/>
        </a:xfrm>
      </p:grpSpPr>
      <p:sp>
        <p:nvSpPr>
          <p:cNvPr id="318" name="Google Shape;318;p18"/>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18"/>
          <p:cNvSpPr txBox="1"/>
          <p:nvPr>
            <p:ph type="title"/>
          </p:nvPr>
        </p:nvSpPr>
        <p:spPr>
          <a:xfrm>
            <a:off x="6411685" y="634946"/>
            <a:ext cx="5127171"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Métodos de Integración de Datos</a:t>
            </a:r>
            <a:endParaRPr/>
          </a:p>
        </p:txBody>
      </p:sp>
      <p:pic>
        <p:nvPicPr>
          <p:cNvPr descr="Difference hand coding data virtualization big data" id="320" name="Google Shape;320;p18"/>
          <p:cNvPicPr preferRelativeResize="0"/>
          <p:nvPr/>
        </p:nvPicPr>
        <p:blipFill rotWithShape="1">
          <a:blip r:embed="rId3">
            <a:alphaModFix/>
          </a:blip>
          <a:srcRect b="20371" l="56703" r="160" t="0"/>
          <a:stretch/>
        </p:blipFill>
        <p:spPr>
          <a:xfrm>
            <a:off x="891319" y="645106"/>
            <a:ext cx="4955373" cy="5247747"/>
          </a:xfrm>
          <a:prstGeom prst="rect">
            <a:avLst/>
          </a:prstGeom>
          <a:noFill/>
          <a:ln>
            <a:noFill/>
          </a:ln>
        </p:spPr>
      </p:pic>
      <p:cxnSp>
        <p:nvCxnSpPr>
          <p:cNvPr id="321" name="Google Shape;321;p18"/>
          <p:cNvCxnSpPr/>
          <p:nvPr/>
        </p:nvCxnSpPr>
        <p:spPr>
          <a:xfrm>
            <a:off x="6411684" y="2086188"/>
            <a:ext cx="474880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322" name="Google Shape;322;p18"/>
          <p:cNvSpPr txBox="1"/>
          <p:nvPr>
            <p:ph idx="1" type="body"/>
          </p:nvPr>
        </p:nvSpPr>
        <p:spPr>
          <a:xfrm>
            <a:off x="6411684" y="2198914"/>
            <a:ext cx="5127172" cy="367018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s-MX"/>
              <a:t>Integración Virtual </a:t>
            </a:r>
            <a:endParaRPr/>
          </a:p>
          <a:p>
            <a:pPr indent="-127000" lvl="0" marL="91440" rtl="0" algn="l">
              <a:lnSpc>
                <a:spcPct val="90000"/>
              </a:lnSpc>
              <a:spcBef>
                <a:spcPts val="1400"/>
              </a:spcBef>
              <a:spcAft>
                <a:spcPts val="0"/>
              </a:spcAft>
              <a:buSzPts val="2000"/>
              <a:buFont typeface="Arial"/>
              <a:buChar char="•"/>
            </a:pPr>
            <a:r>
              <a:rPr lang="es-MX"/>
              <a:t>Accede a los datos en tiempo real sin moverlos.</a:t>
            </a:r>
            <a:endParaRPr/>
          </a:p>
          <a:p>
            <a:pPr indent="-127000" lvl="0" marL="91440" rtl="0" algn="l">
              <a:lnSpc>
                <a:spcPct val="90000"/>
              </a:lnSpc>
              <a:spcBef>
                <a:spcPts val="1400"/>
              </a:spcBef>
              <a:spcAft>
                <a:spcPts val="0"/>
              </a:spcAft>
              <a:buSzPts val="2000"/>
              <a:buFont typeface="Arial"/>
              <a:buChar char="•"/>
            </a:pPr>
            <a:r>
              <a:rPr lang="es-MX"/>
              <a:t>Usa vistas virtuales en lugar de almacenar copias de los datos.</a:t>
            </a:r>
            <a:endParaRPr/>
          </a:p>
          <a:p>
            <a:pPr indent="-127000" lvl="0" marL="91440" rtl="0" algn="l">
              <a:lnSpc>
                <a:spcPct val="90000"/>
              </a:lnSpc>
              <a:spcBef>
                <a:spcPts val="1400"/>
              </a:spcBef>
              <a:spcAft>
                <a:spcPts val="0"/>
              </a:spcAft>
              <a:buSzPts val="2000"/>
              <a:buFont typeface="Arial"/>
              <a:buChar char="•"/>
            </a:pPr>
            <a:r>
              <a:rPr lang="es-MX"/>
              <a:t>Ejemplo: Un portal bancario que consulta datos de diferentes sistemas sin duplicarlos.</a:t>
            </a:r>
            <a:endParaRPr/>
          </a:p>
        </p:txBody>
      </p:sp>
      <p:sp>
        <p:nvSpPr>
          <p:cNvPr id="323" name="Google Shape;323;p18"/>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18"/>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g3c603bd49f0_0_26"/>
          <p:cNvSpPr txBox="1"/>
          <p:nvPr>
            <p:ph type="title"/>
          </p:nvPr>
        </p:nvSpPr>
        <p:spPr>
          <a:xfrm>
            <a:off x="1066800" y="438175"/>
            <a:ext cx="10058400" cy="8529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s-MX" sz="3900"/>
              <a:t>integraci</a:t>
            </a:r>
            <a:r>
              <a:rPr lang="es-MX" sz="3900"/>
              <a:t>ón virtual</a:t>
            </a:r>
            <a:endParaRPr sz="3900"/>
          </a:p>
        </p:txBody>
      </p:sp>
      <p:pic>
        <p:nvPicPr>
          <p:cNvPr id="330" name="Google Shape;330;g3c603bd49f0_0_26"/>
          <p:cNvPicPr preferRelativeResize="0"/>
          <p:nvPr/>
        </p:nvPicPr>
        <p:blipFill>
          <a:blip r:embed="rId3">
            <a:alphaModFix/>
          </a:blip>
          <a:stretch>
            <a:fillRect/>
          </a:stretch>
        </p:blipFill>
        <p:spPr>
          <a:xfrm>
            <a:off x="3575200" y="1719099"/>
            <a:ext cx="4381500" cy="2581275"/>
          </a:xfrm>
          <a:prstGeom prst="rect">
            <a:avLst/>
          </a:prstGeom>
          <a:noFill/>
          <a:ln>
            <a:noFill/>
          </a:ln>
        </p:spPr>
      </p:pic>
      <p:pic>
        <p:nvPicPr>
          <p:cNvPr id="331" name="Google Shape;331;g3c603bd49f0_0_26"/>
          <p:cNvPicPr preferRelativeResize="0"/>
          <p:nvPr/>
        </p:nvPicPr>
        <p:blipFill>
          <a:blip r:embed="rId4">
            <a:alphaModFix/>
          </a:blip>
          <a:stretch>
            <a:fillRect/>
          </a:stretch>
        </p:blipFill>
        <p:spPr>
          <a:xfrm>
            <a:off x="108950" y="4845302"/>
            <a:ext cx="3466250" cy="1224397"/>
          </a:xfrm>
          <a:prstGeom prst="rect">
            <a:avLst/>
          </a:prstGeom>
          <a:noFill/>
          <a:ln cap="flat" cmpd="sng" w="114300">
            <a:solidFill>
              <a:srgbClr val="0A6FBF"/>
            </a:solidFill>
            <a:prstDash val="solid"/>
            <a:round/>
            <a:headEnd len="sm" w="sm" type="none"/>
            <a:tailEnd len="sm" w="sm" type="none"/>
          </a:ln>
        </p:spPr>
      </p:pic>
      <p:pic>
        <p:nvPicPr>
          <p:cNvPr id="332" name="Google Shape;332;g3c603bd49f0_0_26"/>
          <p:cNvPicPr preferRelativeResize="0"/>
          <p:nvPr/>
        </p:nvPicPr>
        <p:blipFill>
          <a:blip r:embed="rId5">
            <a:alphaModFix/>
          </a:blip>
          <a:stretch>
            <a:fillRect/>
          </a:stretch>
        </p:blipFill>
        <p:spPr>
          <a:xfrm>
            <a:off x="3816388" y="4845300"/>
            <a:ext cx="4065328" cy="1224400"/>
          </a:xfrm>
          <a:prstGeom prst="rect">
            <a:avLst/>
          </a:prstGeom>
          <a:noFill/>
          <a:ln cap="flat" cmpd="sng" w="76200">
            <a:solidFill>
              <a:srgbClr val="FF0000"/>
            </a:solidFill>
            <a:prstDash val="solid"/>
            <a:round/>
            <a:headEnd len="sm" w="sm" type="none"/>
            <a:tailEnd len="sm" w="sm" type="none"/>
          </a:ln>
        </p:spPr>
      </p:pic>
      <p:pic>
        <p:nvPicPr>
          <p:cNvPr id="333" name="Google Shape;333;g3c603bd49f0_0_26"/>
          <p:cNvPicPr preferRelativeResize="0"/>
          <p:nvPr/>
        </p:nvPicPr>
        <p:blipFill>
          <a:blip r:embed="rId6">
            <a:alphaModFix/>
          </a:blip>
          <a:stretch>
            <a:fillRect/>
          </a:stretch>
        </p:blipFill>
        <p:spPr>
          <a:xfrm>
            <a:off x="8122925" y="4747888"/>
            <a:ext cx="3790950" cy="1419225"/>
          </a:xfrm>
          <a:prstGeom prst="rect">
            <a:avLst/>
          </a:prstGeom>
          <a:noFill/>
          <a:ln cap="flat" cmpd="sng" w="76200">
            <a:solidFill>
              <a:srgbClr val="38761D"/>
            </a:solidFill>
            <a:prstDash val="solid"/>
            <a:round/>
            <a:headEnd len="sm" w="sm" type="none"/>
            <a:tailEnd len="sm" w="sm" type="none"/>
          </a:ln>
        </p:spPr>
      </p:pic>
      <p:sp>
        <p:nvSpPr>
          <p:cNvPr id="334" name="Google Shape;334;g3c603bd49f0_0_26"/>
          <p:cNvSpPr/>
          <p:nvPr/>
        </p:nvSpPr>
        <p:spPr>
          <a:xfrm>
            <a:off x="3319499" y="2954066"/>
            <a:ext cx="437100" cy="168000"/>
          </a:xfrm>
          <a:prstGeom prst="rightArrow">
            <a:avLst>
              <a:gd fmla="val 50000" name="adj1"/>
              <a:gd fmla="val 50000" name="adj2"/>
            </a:avLst>
          </a:prstGeom>
          <a:solidFill>
            <a:srgbClr val="0A6FB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5" name="Google Shape;335;g3c603bd49f0_0_26"/>
          <p:cNvSpPr/>
          <p:nvPr/>
        </p:nvSpPr>
        <p:spPr>
          <a:xfrm>
            <a:off x="3284225" y="3905563"/>
            <a:ext cx="437100" cy="168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6" name="Google Shape;336;g3c603bd49f0_0_26"/>
          <p:cNvSpPr/>
          <p:nvPr/>
        </p:nvSpPr>
        <p:spPr>
          <a:xfrm>
            <a:off x="3284225" y="4097081"/>
            <a:ext cx="437100" cy="168000"/>
          </a:xfrm>
          <a:prstGeom prst="rightArrow">
            <a:avLst>
              <a:gd fmla="val 50000" name="adj1"/>
              <a:gd fmla="val 500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0" name="Shape 340"/>
        <p:cNvGrpSpPr/>
        <p:nvPr/>
      </p:nvGrpSpPr>
      <p:grpSpPr>
        <a:xfrm>
          <a:off x="0" y="0"/>
          <a:ext cx="0" cy="0"/>
          <a:chOff x="0" y="0"/>
          <a:chExt cx="0" cy="0"/>
        </a:xfrm>
      </p:grpSpPr>
      <p:sp>
        <p:nvSpPr>
          <p:cNvPr id="341" name="Google Shape;341;p19"/>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19"/>
          <p:cNvSpPr txBox="1"/>
          <p:nvPr>
            <p:ph type="title"/>
          </p:nvPr>
        </p:nvSpPr>
        <p:spPr>
          <a:xfrm>
            <a:off x="6411685" y="634946"/>
            <a:ext cx="5127171"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Métodos de Integración de Datos</a:t>
            </a:r>
            <a:endParaRPr/>
          </a:p>
        </p:txBody>
      </p:sp>
      <p:pic>
        <p:nvPicPr>
          <p:cNvPr descr="Hybrid data integration diagram features a breakdown of how cloud and on-premise combine." id="343" name="Google Shape;343;p19"/>
          <p:cNvPicPr preferRelativeResize="0"/>
          <p:nvPr/>
        </p:nvPicPr>
        <p:blipFill rotWithShape="1">
          <a:blip r:embed="rId3">
            <a:alphaModFix/>
          </a:blip>
          <a:srcRect b="3" l="16372" r="18620" t="0"/>
          <a:stretch/>
        </p:blipFill>
        <p:spPr>
          <a:xfrm>
            <a:off x="643192" y="1172521"/>
            <a:ext cx="5451627" cy="4192916"/>
          </a:xfrm>
          <a:prstGeom prst="rect">
            <a:avLst/>
          </a:prstGeom>
          <a:noFill/>
          <a:ln>
            <a:noFill/>
          </a:ln>
        </p:spPr>
      </p:pic>
      <p:cxnSp>
        <p:nvCxnSpPr>
          <p:cNvPr id="344" name="Google Shape;344;p19"/>
          <p:cNvCxnSpPr/>
          <p:nvPr/>
        </p:nvCxnSpPr>
        <p:spPr>
          <a:xfrm>
            <a:off x="6411684" y="2086188"/>
            <a:ext cx="474880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345" name="Google Shape;345;p19"/>
          <p:cNvSpPr txBox="1"/>
          <p:nvPr>
            <p:ph idx="1" type="body"/>
          </p:nvPr>
        </p:nvSpPr>
        <p:spPr>
          <a:xfrm>
            <a:off x="6411684" y="2198914"/>
            <a:ext cx="5127172" cy="367018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Integración Híbrida</a:t>
            </a:r>
            <a:endParaRPr b="1"/>
          </a:p>
          <a:p>
            <a:pPr indent="-127000" lvl="0" marL="91440" rtl="0" algn="l">
              <a:lnSpc>
                <a:spcPct val="90000"/>
              </a:lnSpc>
              <a:spcBef>
                <a:spcPts val="1400"/>
              </a:spcBef>
              <a:spcAft>
                <a:spcPts val="0"/>
              </a:spcAft>
              <a:buSzPts val="2000"/>
              <a:buFont typeface="Arial"/>
              <a:buChar char="•"/>
            </a:pPr>
            <a:r>
              <a:rPr lang="es-MX"/>
              <a:t>Combinación de integración materializada y virtual.</a:t>
            </a:r>
            <a:endParaRPr/>
          </a:p>
          <a:p>
            <a:pPr indent="-127000" lvl="0" marL="91440" rtl="0" algn="l">
              <a:lnSpc>
                <a:spcPct val="90000"/>
              </a:lnSpc>
              <a:spcBef>
                <a:spcPts val="1400"/>
              </a:spcBef>
              <a:spcAft>
                <a:spcPts val="0"/>
              </a:spcAft>
              <a:buSzPts val="2000"/>
              <a:buFont typeface="Arial"/>
              <a:buChar char="•"/>
            </a:pPr>
            <a:r>
              <a:rPr lang="es-MX"/>
              <a:t>Ejemplo: Un hospital que almacena historiales médicos en un Data Warehouse pero consulta en tiempo real exámenes de laboratorio.</a:t>
            </a:r>
            <a:endParaRPr/>
          </a:p>
        </p:txBody>
      </p:sp>
      <p:sp>
        <p:nvSpPr>
          <p:cNvPr id="346" name="Google Shape;346;p19"/>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19"/>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3A3A"/>
            </a:gs>
            <a:gs pos="65000">
              <a:schemeClr val="dk1"/>
            </a:gs>
            <a:gs pos="100000">
              <a:schemeClr val="dk1"/>
            </a:gs>
          </a:gsLst>
          <a:lin ang="16200000" scaled="0"/>
        </a:gradFill>
      </p:bgPr>
    </p:bg>
    <p:spTree>
      <p:nvGrpSpPr>
        <p:cNvPr id="351" name="Shape 351"/>
        <p:cNvGrpSpPr/>
        <p:nvPr/>
      </p:nvGrpSpPr>
      <p:grpSpPr>
        <a:xfrm>
          <a:off x="0" y="0"/>
          <a:ext cx="0" cy="0"/>
          <a:chOff x="0" y="0"/>
          <a:chExt cx="0" cy="0"/>
        </a:xfrm>
      </p:grpSpPr>
      <p:pic>
        <p:nvPicPr>
          <p:cNvPr descr="Vista superior de cubos conectados con líneas negras" id="352" name="Google Shape;352;p20"/>
          <p:cNvPicPr preferRelativeResize="0"/>
          <p:nvPr/>
        </p:nvPicPr>
        <p:blipFill rotWithShape="1">
          <a:blip r:embed="rId3">
            <a:alphaModFix amt="35000"/>
          </a:blip>
          <a:srcRect b="12500" l="0" r="0" t="12500"/>
          <a:stretch/>
        </p:blipFill>
        <p:spPr>
          <a:xfrm>
            <a:off x="20" y="10"/>
            <a:ext cx="12191980" cy="6857990"/>
          </a:xfrm>
          <a:prstGeom prst="rect">
            <a:avLst/>
          </a:prstGeom>
          <a:noFill/>
          <a:ln>
            <a:noFill/>
          </a:ln>
        </p:spPr>
      </p:pic>
      <p:cxnSp>
        <p:nvCxnSpPr>
          <p:cNvPr id="353" name="Google Shape;353;p20"/>
          <p:cNvCxnSpPr/>
          <p:nvPr/>
        </p:nvCxnSpPr>
        <p:spPr>
          <a:xfrm>
            <a:off x="1193532" y="1737845"/>
            <a:ext cx="9966960" cy="0"/>
          </a:xfrm>
          <a:prstGeom prst="straightConnector1">
            <a:avLst/>
          </a:prstGeom>
          <a:noFill/>
          <a:ln cap="flat" cmpd="sng" w="9525">
            <a:solidFill>
              <a:schemeClr val="lt2">
                <a:alpha val="89803"/>
              </a:schemeClr>
            </a:solidFill>
            <a:prstDash val="solid"/>
            <a:round/>
            <a:headEnd len="sm" w="sm" type="none"/>
            <a:tailEnd len="sm" w="sm" type="none"/>
          </a:ln>
        </p:spPr>
      </p:cxnSp>
      <p:sp>
        <p:nvSpPr>
          <p:cNvPr id="354" name="Google Shape;354;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Calibri"/>
              <a:buNone/>
            </a:pPr>
            <a:br>
              <a:rPr lang="es-MX">
                <a:solidFill>
                  <a:schemeClr val="lt1"/>
                </a:solidFill>
              </a:rPr>
            </a:br>
            <a:r>
              <a:rPr lang="es-MX">
                <a:solidFill>
                  <a:schemeClr val="lt1"/>
                </a:solidFill>
              </a:rPr>
              <a:t>Modelo de datos canónico (CDM)</a:t>
            </a:r>
            <a:endParaRPr/>
          </a:p>
        </p:txBody>
      </p:sp>
      <p:sp>
        <p:nvSpPr>
          <p:cNvPr id="355" name="Google Shape;355;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just">
              <a:lnSpc>
                <a:spcPct val="90000"/>
              </a:lnSpc>
              <a:spcBef>
                <a:spcPts val="0"/>
              </a:spcBef>
              <a:spcAft>
                <a:spcPts val="0"/>
              </a:spcAft>
              <a:buSzPts val="2000"/>
              <a:buNone/>
            </a:pPr>
            <a:r>
              <a:rPr lang="es-MX">
                <a:solidFill>
                  <a:schemeClr val="lt1"/>
                </a:solidFill>
              </a:rPr>
              <a:t>El modelo canónico en integración de datos es un enfoque que busca representar datos provenientes de múltiples fuentes heterogéneas en una estructura unificada e intermedia. Su propósito es proporcionar un esquema común que sirva como punto de referencia para la transformación y armonización de los datos antes de su integración.</a:t>
            </a:r>
            <a:endParaRPr>
              <a:solidFill>
                <a:schemeClr val="lt1"/>
              </a:solidFill>
            </a:endParaRPr>
          </a:p>
        </p:txBody>
      </p:sp>
      <p:sp>
        <p:nvSpPr>
          <p:cNvPr id="356" name="Google Shape;356;p20"/>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20"/>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21"/>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p21"/>
          <p:cNvSpPr txBox="1"/>
          <p:nvPr>
            <p:ph type="title"/>
          </p:nvPr>
        </p:nvSpPr>
        <p:spPr>
          <a:xfrm>
            <a:off x="7859485" y="634946"/>
            <a:ext cx="3690257"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400"/>
              <a:buFont typeface="Calibri"/>
              <a:buNone/>
            </a:pPr>
            <a:r>
              <a:rPr lang="es-MX" sz="4400"/>
              <a:t>Canonical Data Model (CDM)</a:t>
            </a:r>
            <a:endParaRPr/>
          </a:p>
        </p:txBody>
      </p:sp>
      <p:pic>
        <p:nvPicPr>
          <p:cNvPr id="364" name="Google Shape;364;p21"/>
          <p:cNvPicPr preferRelativeResize="0"/>
          <p:nvPr>
            <p:ph idx="1" type="body"/>
          </p:nvPr>
        </p:nvPicPr>
        <p:blipFill rotWithShape="1">
          <a:blip r:embed="rId3">
            <a:alphaModFix/>
          </a:blip>
          <a:srcRect b="0" l="0" r="0" t="0"/>
          <a:stretch/>
        </p:blipFill>
        <p:spPr>
          <a:xfrm>
            <a:off x="633999" y="994017"/>
            <a:ext cx="6909801" cy="4606534"/>
          </a:xfrm>
          <a:prstGeom prst="rect">
            <a:avLst/>
          </a:prstGeom>
          <a:noFill/>
          <a:ln>
            <a:noFill/>
          </a:ln>
        </p:spPr>
      </p:pic>
      <p:cxnSp>
        <p:nvCxnSpPr>
          <p:cNvPr id="365" name="Google Shape;365;p21"/>
          <p:cNvCxnSpPr/>
          <p:nvPr/>
        </p:nvCxnSpPr>
        <p:spPr>
          <a:xfrm>
            <a:off x="7892143" y="2085703"/>
            <a:ext cx="3566160"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366" name="Google Shape;366;p21"/>
          <p:cNvSpPr txBox="1"/>
          <p:nvPr/>
        </p:nvSpPr>
        <p:spPr>
          <a:xfrm>
            <a:off x="7859485" y="2198914"/>
            <a:ext cx="3690257" cy="3670180"/>
          </a:xfrm>
          <a:prstGeom prst="rect">
            <a:avLst/>
          </a:prstGeom>
          <a:noFill/>
          <a:ln>
            <a:noFill/>
          </a:ln>
        </p:spPr>
        <p:txBody>
          <a:bodyPr anchorCtr="0" anchor="t" bIns="45700" lIns="0" spcFirstLastPara="1" rIns="0" wrap="square" tIns="45700">
            <a:normAutofit/>
          </a:bodyPr>
          <a:lstStyle/>
          <a:p>
            <a:pPr indent="0" lvl="0" marL="0" marR="0" rtl="0" algn="l">
              <a:lnSpc>
                <a:spcPct val="90000"/>
              </a:lnSpc>
              <a:spcBef>
                <a:spcPts val="0"/>
              </a:spcBef>
              <a:spcAft>
                <a:spcPts val="0"/>
              </a:spcAft>
              <a:buNone/>
            </a:pPr>
            <a:r>
              <a:rPr i="0" lang="es-MX" sz="1800">
                <a:solidFill>
                  <a:srgbClr val="3F3F3F"/>
                </a:solidFill>
                <a:latin typeface="Calibri"/>
                <a:ea typeface="Calibri"/>
                <a:cs typeface="Calibri"/>
                <a:sym typeface="Calibri"/>
              </a:rPr>
              <a:t>En la arquitectura de aplicaciones, a menudo nos encontramos con el reto de conectar sistemas que almacenan datos en formatos incompatibles. La complejidad de establecer conexiones punto a punto entre cada aplicación es una fórmula para el caos, con un número de transformaciones que aumenta exponencialmente con cada nuevo sistema integrado.</a:t>
            </a:r>
            <a:endParaRPr sz="1800">
              <a:solidFill>
                <a:srgbClr val="3F3F3F"/>
              </a:solidFill>
              <a:latin typeface="Calibri"/>
              <a:ea typeface="Calibri"/>
              <a:cs typeface="Calibri"/>
              <a:sym typeface="Calibri"/>
            </a:endParaRPr>
          </a:p>
        </p:txBody>
      </p:sp>
      <p:sp>
        <p:nvSpPr>
          <p:cNvPr id="367" name="Google Shape;367;p21"/>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21"/>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2" name="Shape 372"/>
        <p:cNvGrpSpPr/>
        <p:nvPr/>
      </p:nvGrpSpPr>
      <p:grpSpPr>
        <a:xfrm>
          <a:off x="0" y="0"/>
          <a:ext cx="0" cy="0"/>
          <a:chOff x="0" y="0"/>
          <a:chExt cx="0" cy="0"/>
        </a:xfrm>
      </p:grpSpPr>
      <p:sp>
        <p:nvSpPr>
          <p:cNvPr id="373" name="Google Shape;373;p22"/>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2"/>
          <p:cNvSpPr txBox="1"/>
          <p:nvPr>
            <p:ph type="title"/>
          </p:nvPr>
        </p:nvSpPr>
        <p:spPr>
          <a:xfrm>
            <a:off x="7859485" y="634946"/>
            <a:ext cx="3690257"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400"/>
              <a:buFont typeface="Calibri"/>
              <a:buNone/>
            </a:pPr>
            <a:r>
              <a:rPr lang="es-MX" sz="4400"/>
              <a:t>Canonical Data Model (CDM)</a:t>
            </a:r>
            <a:endParaRPr/>
          </a:p>
        </p:txBody>
      </p:sp>
      <p:pic>
        <p:nvPicPr>
          <p:cNvPr id="375" name="Google Shape;375;p22"/>
          <p:cNvPicPr preferRelativeResize="0"/>
          <p:nvPr>
            <p:ph idx="1" type="body"/>
          </p:nvPr>
        </p:nvPicPr>
        <p:blipFill rotWithShape="1">
          <a:blip r:embed="rId3">
            <a:alphaModFix/>
          </a:blip>
          <a:srcRect b="0" l="0" r="0" t="0"/>
          <a:stretch/>
        </p:blipFill>
        <p:spPr>
          <a:xfrm>
            <a:off x="633999" y="994017"/>
            <a:ext cx="6909801" cy="4606534"/>
          </a:xfrm>
          <a:prstGeom prst="rect">
            <a:avLst/>
          </a:prstGeom>
          <a:noFill/>
          <a:ln>
            <a:noFill/>
          </a:ln>
        </p:spPr>
      </p:pic>
      <p:cxnSp>
        <p:nvCxnSpPr>
          <p:cNvPr id="376" name="Google Shape;376;p22"/>
          <p:cNvCxnSpPr/>
          <p:nvPr/>
        </p:nvCxnSpPr>
        <p:spPr>
          <a:xfrm>
            <a:off x="7892143" y="2085703"/>
            <a:ext cx="3566160"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377" name="Google Shape;377;p22"/>
          <p:cNvSpPr txBox="1"/>
          <p:nvPr/>
        </p:nvSpPr>
        <p:spPr>
          <a:xfrm>
            <a:off x="7859485" y="2198914"/>
            <a:ext cx="3690257" cy="3670180"/>
          </a:xfrm>
          <a:prstGeom prst="rect">
            <a:avLst/>
          </a:prstGeom>
          <a:noFill/>
          <a:ln>
            <a:noFill/>
          </a:ln>
        </p:spPr>
        <p:txBody>
          <a:bodyPr anchorCtr="0" anchor="t" bIns="45700" lIns="0" spcFirstLastPara="1" rIns="0" wrap="square" tIns="45700">
            <a:normAutofit/>
          </a:bodyPr>
          <a:lstStyle/>
          <a:p>
            <a:pPr indent="0" lvl="0" marL="0" marR="0" rtl="0" algn="l">
              <a:lnSpc>
                <a:spcPct val="90000"/>
              </a:lnSpc>
              <a:spcBef>
                <a:spcPts val="0"/>
              </a:spcBef>
              <a:spcAft>
                <a:spcPts val="0"/>
              </a:spcAft>
              <a:buNone/>
            </a:pPr>
            <a:r>
              <a:rPr i="0" lang="es-MX" sz="1800">
                <a:solidFill>
                  <a:srgbClr val="3F3F3F"/>
                </a:solidFill>
                <a:latin typeface="Calibri"/>
                <a:ea typeface="Calibri"/>
                <a:cs typeface="Calibri"/>
                <a:sym typeface="Calibri"/>
              </a:rPr>
              <a:t>La solución a esta escalada de complejidad es el Modelo de Datos Común (CDM). Este enfoque estandariza la forma en que los sistemas comparten datos, reduciendo drásticamente las transformaciones necesarias. Con el CDM, cada sistema solo necesita dos mapeos: uno hacia el CDM y otro de regreso a su formato nativo, simplificando la integración y haciéndola más escalable.</a:t>
            </a:r>
            <a:endParaRPr sz="1800">
              <a:solidFill>
                <a:srgbClr val="3F3F3F"/>
              </a:solidFill>
              <a:latin typeface="Calibri"/>
              <a:ea typeface="Calibri"/>
              <a:cs typeface="Calibri"/>
              <a:sym typeface="Calibri"/>
            </a:endParaRPr>
          </a:p>
        </p:txBody>
      </p:sp>
      <p:sp>
        <p:nvSpPr>
          <p:cNvPr id="378" name="Google Shape;378;p22"/>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22"/>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Ejemplo</a:t>
            </a:r>
            <a:endParaRPr/>
          </a:p>
        </p:txBody>
      </p:sp>
      <p:sp>
        <p:nvSpPr>
          <p:cNvPr id="385" name="Google Shape;385;p23"/>
          <p:cNvSpPr txBox="1"/>
          <p:nvPr>
            <p:ph idx="1" type="body"/>
          </p:nvPr>
        </p:nvSpPr>
        <p:spPr>
          <a:xfrm>
            <a:off x="1097280" y="1845734"/>
            <a:ext cx="4998720" cy="976124"/>
          </a:xfrm>
          <a:prstGeom prst="rect">
            <a:avLst/>
          </a:prstGeom>
          <a:noFill/>
          <a:ln>
            <a:noFill/>
          </a:ln>
        </p:spPr>
        <p:txBody>
          <a:bodyPr anchorCtr="0" anchor="t" bIns="45700" lIns="0" spcFirstLastPara="1" rIns="0" wrap="square" tIns="45700">
            <a:normAutofit fontScale="77500" lnSpcReduction="20000"/>
          </a:bodyPr>
          <a:lstStyle/>
          <a:p>
            <a:pPr indent="-98425" lvl="0" marL="91440" rtl="0" algn="l">
              <a:lnSpc>
                <a:spcPct val="90000"/>
              </a:lnSpc>
              <a:spcBef>
                <a:spcPts val="0"/>
              </a:spcBef>
              <a:spcAft>
                <a:spcPts val="0"/>
              </a:spcAft>
              <a:buSzPct val="100000"/>
              <a:buChar char=" "/>
            </a:pPr>
            <a:r>
              <a:rPr lang="es-MX"/>
              <a:t>Supongamos que una empresa tiene dos sistemas de bases de datos:</a:t>
            </a:r>
            <a:endParaRPr/>
          </a:p>
          <a:p>
            <a:pPr indent="-98425" lvl="0" marL="91440" rtl="0" algn="l">
              <a:lnSpc>
                <a:spcPct val="90000"/>
              </a:lnSpc>
              <a:spcBef>
                <a:spcPts val="1400"/>
              </a:spcBef>
              <a:spcAft>
                <a:spcPts val="0"/>
              </a:spcAft>
              <a:buSzPct val="100000"/>
              <a:buChar char=" "/>
            </a:pPr>
            <a:r>
              <a:rPr lang="es-MX"/>
              <a:t>Un sistema relacional (MySQL) con una tabla de clientes:</a:t>
            </a:r>
            <a:endParaRPr/>
          </a:p>
        </p:txBody>
      </p:sp>
      <p:pic>
        <p:nvPicPr>
          <p:cNvPr id="386" name="Google Shape;386;p23"/>
          <p:cNvPicPr preferRelativeResize="0"/>
          <p:nvPr/>
        </p:nvPicPr>
        <p:blipFill rotWithShape="1">
          <a:blip r:embed="rId3">
            <a:alphaModFix/>
          </a:blip>
          <a:srcRect b="0" l="0" r="0" t="0"/>
          <a:stretch/>
        </p:blipFill>
        <p:spPr>
          <a:xfrm>
            <a:off x="1097280" y="2821858"/>
            <a:ext cx="4713585" cy="725505"/>
          </a:xfrm>
          <a:prstGeom prst="rect">
            <a:avLst/>
          </a:prstGeom>
          <a:noFill/>
          <a:ln>
            <a:noFill/>
          </a:ln>
        </p:spPr>
      </p:pic>
      <p:sp>
        <p:nvSpPr>
          <p:cNvPr id="387" name="Google Shape;387;p23"/>
          <p:cNvSpPr txBox="1"/>
          <p:nvPr/>
        </p:nvSpPr>
        <p:spPr>
          <a:xfrm>
            <a:off x="1097280" y="4036143"/>
            <a:ext cx="49987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alibri"/>
                <a:ea typeface="Calibri"/>
                <a:cs typeface="Calibri"/>
                <a:sym typeface="Calibri"/>
              </a:rPr>
              <a:t>Un sistema NoSQL (MongoDB) que almacena información similar en formato JSON:</a:t>
            </a:r>
            <a:endParaRPr sz="1800">
              <a:solidFill>
                <a:schemeClr val="dk1"/>
              </a:solidFill>
              <a:latin typeface="Calibri"/>
              <a:ea typeface="Calibri"/>
              <a:cs typeface="Calibri"/>
              <a:sym typeface="Calibri"/>
            </a:endParaRPr>
          </a:p>
        </p:txBody>
      </p:sp>
      <p:sp>
        <p:nvSpPr>
          <p:cNvPr id="388" name="Google Shape;388;p23"/>
          <p:cNvSpPr txBox="1"/>
          <p:nvPr/>
        </p:nvSpPr>
        <p:spPr>
          <a:xfrm>
            <a:off x="1097280" y="4523487"/>
            <a:ext cx="6096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s-MX" sz="1800">
                <a:solidFill>
                  <a:schemeClr val="dk1"/>
                </a:solidFill>
                <a:latin typeface="Calibri"/>
                <a:ea typeface="Calibri"/>
                <a:cs typeface="Calibri"/>
                <a:sym typeface="Calibri"/>
              </a:rPr>
              <a:t>  "customer_id": "A001",</a:t>
            </a:r>
            <a:endParaRPr/>
          </a:p>
          <a:p>
            <a:pPr indent="0" lvl="0" marL="0" marR="0" rtl="0" algn="l">
              <a:spcBef>
                <a:spcPts val="0"/>
              </a:spcBef>
              <a:spcAft>
                <a:spcPts val="0"/>
              </a:spcAft>
              <a:buNone/>
            </a:pPr>
            <a:r>
              <a:rPr lang="es-MX" sz="1800">
                <a:solidFill>
                  <a:schemeClr val="dk1"/>
                </a:solidFill>
                <a:latin typeface="Calibri"/>
                <a:ea typeface="Calibri"/>
                <a:cs typeface="Calibri"/>
                <a:sym typeface="Calibri"/>
              </a:rPr>
              <a:t>  "full_name": "Juan Pérez",</a:t>
            </a:r>
            <a:endParaRPr/>
          </a:p>
          <a:p>
            <a:pPr indent="0" lvl="0" marL="0" marR="0" rtl="0" algn="l">
              <a:spcBef>
                <a:spcPts val="0"/>
              </a:spcBef>
              <a:spcAft>
                <a:spcPts val="0"/>
              </a:spcAft>
              <a:buNone/>
            </a:pPr>
            <a:r>
              <a:rPr lang="es-MX" sz="1800">
                <a:solidFill>
                  <a:schemeClr val="dk1"/>
                </a:solidFill>
                <a:latin typeface="Calibri"/>
                <a:ea typeface="Calibri"/>
                <a:cs typeface="Calibri"/>
                <a:sym typeface="Calibri"/>
              </a:rPr>
              <a:t>  "contact": {"phone": "555-1234"}</a:t>
            </a:r>
            <a:endParaRPr/>
          </a:p>
          <a:p>
            <a:pPr indent="0" lvl="0" marL="0" marR="0" rtl="0" algn="l">
              <a:spcBef>
                <a:spcPts val="0"/>
              </a:spcBef>
              <a:spcAft>
                <a:spcPts val="0"/>
              </a:spcAft>
              <a:buNone/>
            </a:pPr>
            <a:r>
              <a:rPr lang="es-MX" sz="1800">
                <a:solidFill>
                  <a:schemeClr val="dk1"/>
                </a:solidFill>
                <a:latin typeface="Calibri"/>
                <a:ea typeface="Calibri"/>
                <a:cs typeface="Calibri"/>
                <a:sym typeface="Calibri"/>
              </a:rPr>
              <a:t>}</a:t>
            </a:r>
            <a:endParaRPr/>
          </a:p>
        </p:txBody>
      </p:sp>
      <p:sp>
        <p:nvSpPr>
          <p:cNvPr id="389" name="Google Shape;389;p23"/>
          <p:cNvSpPr txBox="1"/>
          <p:nvPr/>
        </p:nvSpPr>
        <p:spPr>
          <a:xfrm>
            <a:off x="6156960" y="1845733"/>
            <a:ext cx="4998720" cy="3274907"/>
          </a:xfrm>
          <a:prstGeom prst="rect">
            <a:avLst/>
          </a:prstGeom>
          <a:noFill/>
          <a:ln>
            <a:noFill/>
          </a:ln>
        </p:spPr>
        <p:txBody>
          <a:bodyPr anchorCtr="0" anchor="t" bIns="45700" lIns="0" spcFirstLastPara="1" rIns="0" wrap="square" tIns="45700">
            <a:normAutofit/>
          </a:bodyPr>
          <a:lstStyle/>
          <a:p>
            <a:pPr indent="-127000" lvl="0" marL="91440" marR="0" rtl="0" algn="l">
              <a:lnSpc>
                <a:spcPct val="90000"/>
              </a:lnSpc>
              <a:spcBef>
                <a:spcPts val="0"/>
              </a:spcBef>
              <a:spcAft>
                <a:spcPts val="0"/>
              </a:spcAft>
              <a:buClr>
                <a:schemeClr val="accent1"/>
              </a:buClr>
              <a:buSzPts val="2000"/>
              <a:buFont typeface="Calibri"/>
              <a:buChar char=" "/>
            </a:pPr>
            <a:r>
              <a:rPr lang="es-MX" sz="2000">
                <a:solidFill>
                  <a:srgbClr val="3F3F3F"/>
                </a:solidFill>
                <a:latin typeface="Calibri"/>
                <a:ea typeface="Calibri"/>
                <a:cs typeface="Calibri"/>
                <a:sym typeface="Calibri"/>
              </a:rPr>
              <a:t>Para integrar ambos en un modelo canónico, se puede definir un esquema intermedio como:</a:t>
            </a:r>
            <a:endParaRPr/>
          </a:p>
          <a:p>
            <a:pPr indent="-127000" lvl="0" marL="91440" marR="0" rtl="0" algn="l">
              <a:lnSpc>
                <a:spcPct val="90000"/>
              </a:lnSpc>
              <a:spcBef>
                <a:spcPts val="1400"/>
              </a:spcBef>
              <a:spcAft>
                <a:spcPts val="0"/>
              </a:spcAft>
              <a:buClr>
                <a:schemeClr val="accent1"/>
              </a:buClr>
              <a:buSzPts val="2000"/>
              <a:buFont typeface="Calibri"/>
              <a:buChar char=" "/>
            </a:pPr>
            <a:r>
              <a:rPr lang="es-MX" sz="2000">
                <a:solidFill>
                  <a:srgbClr val="3F3F3F"/>
                </a:solidFill>
                <a:latin typeface="Calibri"/>
                <a:ea typeface="Calibri"/>
                <a:cs typeface="Calibri"/>
                <a:sym typeface="Calibri"/>
              </a:rPr>
              <a:t>{</a:t>
            </a:r>
            <a:endParaRPr/>
          </a:p>
          <a:p>
            <a:pPr indent="-127000" lvl="0" marL="91440" marR="0" rtl="0" algn="l">
              <a:lnSpc>
                <a:spcPct val="90000"/>
              </a:lnSpc>
              <a:spcBef>
                <a:spcPts val="1400"/>
              </a:spcBef>
              <a:spcAft>
                <a:spcPts val="0"/>
              </a:spcAft>
              <a:buClr>
                <a:schemeClr val="accent1"/>
              </a:buClr>
              <a:buSzPts val="2000"/>
              <a:buFont typeface="Calibri"/>
              <a:buChar char=" "/>
            </a:pPr>
            <a:r>
              <a:rPr lang="es-MX" sz="2000">
                <a:solidFill>
                  <a:srgbClr val="3F3F3F"/>
                </a:solidFill>
                <a:latin typeface="Calibri"/>
                <a:ea typeface="Calibri"/>
                <a:cs typeface="Calibri"/>
                <a:sym typeface="Calibri"/>
              </a:rPr>
              <a:t>  "id": "string",</a:t>
            </a:r>
            <a:endParaRPr/>
          </a:p>
          <a:p>
            <a:pPr indent="-127000" lvl="0" marL="91440" marR="0" rtl="0" algn="l">
              <a:lnSpc>
                <a:spcPct val="90000"/>
              </a:lnSpc>
              <a:spcBef>
                <a:spcPts val="1400"/>
              </a:spcBef>
              <a:spcAft>
                <a:spcPts val="0"/>
              </a:spcAft>
              <a:buClr>
                <a:schemeClr val="accent1"/>
              </a:buClr>
              <a:buSzPts val="2000"/>
              <a:buFont typeface="Calibri"/>
              <a:buChar char=" "/>
            </a:pPr>
            <a:r>
              <a:rPr lang="es-MX" sz="2000">
                <a:solidFill>
                  <a:srgbClr val="3F3F3F"/>
                </a:solidFill>
                <a:latin typeface="Calibri"/>
                <a:ea typeface="Calibri"/>
                <a:cs typeface="Calibri"/>
                <a:sym typeface="Calibri"/>
              </a:rPr>
              <a:t>  "nombre_completo": "string",</a:t>
            </a:r>
            <a:endParaRPr/>
          </a:p>
          <a:p>
            <a:pPr indent="-127000" lvl="0" marL="91440" marR="0" rtl="0" algn="l">
              <a:lnSpc>
                <a:spcPct val="90000"/>
              </a:lnSpc>
              <a:spcBef>
                <a:spcPts val="1400"/>
              </a:spcBef>
              <a:spcAft>
                <a:spcPts val="0"/>
              </a:spcAft>
              <a:buClr>
                <a:schemeClr val="accent1"/>
              </a:buClr>
              <a:buSzPts val="2000"/>
              <a:buFont typeface="Calibri"/>
              <a:buChar char=" "/>
            </a:pPr>
            <a:r>
              <a:rPr lang="es-MX" sz="2000">
                <a:solidFill>
                  <a:srgbClr val="3F3F3F"/>
                </a:solidFill>
                <a:latin typeface="Calibri"/>
                <a:ea typeface="Calibri"/>
                <a:cs typeface="Calibri"/>
                <a:sym typeface="Calibri"/>
              </a:rPr>
              <a:t>  "telefono": "string"</a:t>
            </a:r>
            <a:endParaRPr/>
          </a:p>
          <a:p>
            <a:pPr indent="-127000" lvl="0" marL="91440" marR="0" rtl="0" algn="l">
              <a:lnSpc>
                <a:spcPct val="90000"/>
              </a:lnSpc>
              <a:spcBef>
                <a:spcPts val="1400"/>
              </a:spcBef>
              <a:spcAft>
                <a:spcPts val="0"/>
              </a:spcAft>
              <a:buClr>
                <a:schemeClr val="accent1"/>
              </a:buClr>
              <a:buSzPts val="2000"/>
              <a:buFont typeface="Calibri"/>
              <a:buChar char=" "/>
            </a:pPr>
            <a:r>
              <a:rPr lang="es-MX" sz="2000">
                <a:solidFill>
                  <a:srgbClr val="3F3F3F"/>
                </a:solidFill>
                <a:latin typeface="Calibri"/>
                <a:ea typeface="Calibri"/>
                <a:cs typeface="Calibri"/>
                <a:sym typeface="Calibri"/>
              </a:rPr>
              <a:t>}</a:t>
            </a:r>
            <a:endParaRPr sz="2000">
              <a:solidFill>
                <a:srgbClr val="3F3F3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br>
              <a:rPr lang="es-MX"/>
            </a:br>
            <a:r>
              <a:rPr lang="es-MX"/>
              <a:t>Mapeo de Esquemas</a:t>
            </a:r>
            <a:endParaRPr/>
          </a:p>
        </p:txBody>
      </p:sp>
      <p:sp>
        <p:nvSpPr>
          <p:cNvPr id="395" name="Google Shape;395;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Arial"/>
              <a:buChar char="•"/>
            </a:pPr>
            <a:r>
              <a:rPr lang="es-MX"/>
              <a:t>Identificar cómo los atributos de diferentes bases de datos están relacionados.</a:t>
            </a:r>
            <a:endParaRPr/>
          </a:p>
          <a:p>
            <a:pPr indent="-127000" lvl="0" marL="91440" rtl="0" algn="l">
              <a:lnSpc>
                <a:spcPct val="90000"/>
              </a:lnSpc>
              <a:spcBef>
                <a:spcPts val="1400"/>
              </a:spcBef>
              <a:spcAft>
                <a:spcPts val="0"/>
              </a:spcAft>
              <a:buSzPts val="2000"/>
              <a:buFont typeface="Arial"/>
              <a:buChar char="•"/>
            </a:pPr>
            <a:r>
              <a:rPr lang="es-MX"/>
              <a:t>Definir reglas para transformar datos de un esquema a otro.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Correspondencia y Mapeo de Esquemas</a:t>
            </a:r>
            <a:endParaRPr/>
          </a:p>
        </p:txBody>
      </p:sp>
      <p:sp>
        <p:nvSpPr>
          <p:cNvPr id="401" name="Google Shape;401;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s-MX"/>
              <a:t>Ejemplo</a:t>
            </a:r>
            <a:endParaRPr/>
          </a:p>
          <a:p>
            <a:pPr indent="-127000" lvl="0" marL="91440" rtl="0" algn="l">
              <a:lnSpc>
                <a:spcPct val="90000"/>
              </a:lnSpc>
              <a:spcBef>
                <a:spcPts val="1400"/>
              </a:spcBef>
              <a:spcAft>
                <a:spcPts val="0"/>
              </a:spcAft>
              <a:buSzPts val="2000"/>
              <a:buFont typeface="Arial"/>
              <a:buChar char="•"/>
            </a:pPr>
            <a:r>
              <a:rPr lang="es-MX"/>
              <a:t>Una empresa fusiona sus bases de datos de clientes, pero cada sistema usa una estructura diferente:</a:t>
            </a:r>
            <a:endParaRPr/>
          </a:p>
          <a:p>
            <a:pPr indent="0" lvl="0" marL="0" rtl="0" algn="l">
              <a:lnSpc>
                <a:spcPct val="90000"/>
              </a:lnSpc>
              <a:spcBef>
                <a:spcPts val="1400"/>
              </a:spcBef>
              <a:spcAft>
                <a:spcPts val="0"/>
              </a:spcAft>
              <a:buSzPts val="2000"/>
              <a:buNone/>
            </a:pPr>
            <a:r>
              <a:t/>
            </a:r>
            <a:endParaRPr/>
          </a:p>
        </p:txBody>
      </p:sp>
      <p:pic>
        <p:nvPicPr>
          <p:cNvPr id="402" name="Google Shape;402;p25"/>
          <p:cNvPicPr preferRelativeResize="0"/>
          <p:nvPr/>
        </p:nvPicPr>
        <p:blipFill rotWithShape="1">
          <a:blip r:embed="rId3">
            <a:alphaModFix/>
          </a:blip>
          <a:srcRect b="0" l="0" r="0" t="0"/>
          <a:stretch/>
        </p:blipFill>
        <p:spPr>
          <a:xfrm>
            <a:off x="2194292" y="2979720"/>
            <a:ext cx="6982799" cy="2000529"/>
          </a:xfrm>
          <a:prstGeom prst="rect">
            <a:avLst/>
          </a:prstGeom>
          <a:noFill/>
          <a:ln>
            <a:noFill/>
          </a:ln>
        </p:spPr>
      </p:pic>
      <p:sp>
        <p:nvSpPr>
          <p:cNvPr id="403" name="Google Shape;403;p25"/>
          <p:cNvSpPr txBox="1"/>
          <p:nvPr/>
        </p:nvSpPr>
        <p:spPr>
          <a:xfrm>
            <a:off x="1097279" y="5207059"/>
            <a:ext cx="962933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alibri"/>
                <a:ea typeface="Calibri"/>
                <a:cs typeface="Calibri"/>
                <a:sym typeface="Calibri"/>
              </a:rPr>
              <a:t>Aquí podemos observar que hay una correspondencia total o parcial entre los esquemas, excepto por la columna Dirección, que no tiene equivalente en la Base B.</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Extracción de Datos</a:t>
            </a:r>
            <a:endParaRPr/>
          </a:p>
        </p:txBody>
      </p:sp>
      <p:sp>
        <p:nvSpPr>
          <p:cNvPr id="409" name="Google Shape;409;p2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Proceso de obtener datos de diferentes fuentes.</a:t>
            </a:r>
            <a:endParaRPr/>
          </a:p>
          <a:p>
            <a:pPr indent="-127000" lvl="0" marL="91440" rtl="0" algn="l">
              <a:lnSpc>
                <a:spcPct val="90000"/>
              </a:lnSpc>
              <a:spcBef>
                <a:spcPts val="1400"/>
              </a:spcBef>
              <a:spcAft>
                <a:spcPts val="0"/>
              </a:spcAft>
              <a:buSzPts val="2000"/>
              <a:buChar char=" "/>
            </a:pPr>
            <a:r>
              <a:rPr lang="es-MX"/>
              <a:t>Ejemplo: Extraer datos de una API, de una red social como X, de una base de datos, etcétera.</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s-MX"/>
              <a:t>Herramientas populares:</a:t>
            </a:r>
            <a:endParaRPr/>
          </a:p>
          <a:p>
            <a:pPr indent="-127000" lvl="0" marL="91440" rtl="0" algn="l">
              <a:lnSpc>
                <a:spcPct val="90000"/>
              </a:lnSpc>
              <a:spcBef>
                <a:spcPts val="1400"/>
              </a:spcBef>
              <a:spcAft>
                <a:spcPts val="0"/>
              </a:spcAft>
              <a:buSzPts val="2000"/>
              <a:buFont typeface="Arial"/>
              <a:buChar char="•"/>
            </a:pPr>
            <a:r>
              <a:rPr lang="es-MX"/>
              <a:t>SQL (para bases de datos relacionales).</a:t>
            </a:r>
            <a:endParaRPr/>
          </a:p>
          <a:p>
            <a:pPr indent="-127000" lvl="0" marL="91440" rtl="0" algn="l">
              <a:lnSpc>
                <a:spcPct val="90000"/>
              </a:lnSpc>
              <a:spcBef>
                <a:spcPts val="1400"/>
              </a:spcBef>
              <a:spcAft>
                <a:spcPts val="0"/>
              </a:spcAft>
              <a:buSzPts val="2000"/>
              <a:buFont typeface="Arial"/>
              <a:buChar char="•"/>
            </a:pPr>
            <a:r>
              <a:rPr lang="es-MX"/>
              <a:t>Python (bibliotecas como Pandas, Requests).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Transformación y Carga de Datos</a:t>
            </a:r>
            <a:endParaRPr/>
          </a:p>
        </p:txBody>
      </p:sp>
      <p:sp>
        <p:nvSpPr>
          <p:cNvPr id="415" name="Google Shape;415;p2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Transformación: </a:t>
            </a:r>
            <a:r>
              <a:rPr lang="es-MX"/>
              <a:t>Convertir, limpiar y estructurar los datos.</a:t>
            </a:r>
            <a:endParaRPr/>
          </a:p>
          <a:p>
            <a:pPr indent="-127000" lvl="0" marL="91440" rtl="0" algn="l">
              <a:lnSpc>
                <a:spcPct val="90000"/>
              </a:lnSpc>
              <a:spcBef>
                <a:spcPts val="1400"/>
              </a:spcBef>
              <a:spcAft>
                <a:spcPts val="0"/>
              </a:spcAft>
              <a:buSzPts val="2000"/>
              <a:buChar char=" "/>
            </a:pPr>
            <a:r>
              <a:rPr b="1" lang="es-MX"/>
              <a:t>Carga: </a:t>
            </a:r>
            <a:r>
              <a:rPr lang="es-MX"/>
              <a:t>Almacenar los datos transformados en el sistema de destino.</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s-MX"/>
              <a:t>Ejemplo:</a:t>
            </a:r>
            <a:endParaRPr/>
          </a:p>
          <a:p>
            <a:pPr indent="-127000" lvl="0" marL="91440" rtl="0" algn="l">
              <a:lnSpc>
                <a:spcPct val="90000"/>
              </a:lnSpc>
              <a:spcBef>
                <a:spcPts val="1400"/>
              </a:spcBef>
              <a:spcAft>
                <a:spcPts val="0"/>
              </a:spcAft>
              <a:buSzPts val="2000"/>
              <a:buFont typeface="Arial"/>
              <a:buChar char="•"/>
            </a:pPr>
            <a:r>
              <a:rPr lang="es-MX"/>
              <a:t>Extraer datos de un CSV, convertir fechas al formato correcto y cargarlos en una base de datos MySQL.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Extract, Transform and Load (ETL)</a:t>
            </a:r>
            <a:br>
              <a:rPr lang="es-MX"/>
            </a:br>
            <a:r>
              <a:rPr lang="es-MX"/>
              <a:t>(Extracción, Transformación y Carga)</a:t>
            </a:r>
            <a:endParaRPr/>
          </a:p>
        </p:txBody>
      </p:sp>
      <p:pic>
        <p:nvPicPr>
          <p:cNvPr descr="Data Warehouse: Definición, Conceptos Principales y Casos de Uso" id="421" name="Google Shape;421;p28"/>
          <p:cNvPicPr preferRelativeResize="0"/>
          <p:nvPr/>
        </p:nvPicPr>
        <p:blipFill rotWithShape="1">
          <a:blip r:embed="rId3">
            <a:alphaModFix/>
          </a:blip>
          <a:srcRect b="0" l="0" r="0" t="0"/>
          <a:stretch/>
        </p:blipFill>
        <p:spPr>
          <a:xfrm>
            <a:off x="2295726" y="2016078"/>
            <a:ext cx="7600547" cy="427332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5" name="Shape 425"/>
        <p:cNvGrpSpPr/>
        <p:nvPr/>
      </p:nvGrpSpPr>
      <p:grpSpPr>
        <a:xfrm>
          <a:off x="0" y="0"/>
          <a:ext cx="0" cy="0"/>
          <a:chOff x="0" y="0"/>
          <a:chExt cx="0" cy="0"/>
        </a:xfrm>
      </p:grpSpPr>
      <p:sp>
        <p:nvSpPr>
          <p:cNvPr id="426" name="Google Shape;426;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Actividades</a:t>
            </a:r>
            <a:endParaRPr/>
          </a:p>
        </p:txBody>
      </p:sp>
      <p:grpSp>
        <p:nvGrpSpPr>
          <p:cNvPr id="427" name="Google Shape;427;p29"/>
          <p:cNvGrpSpPr/>
          <p:nvPr/>
        </p:nvGrpSpPr>
        <p:grpSpPr>
          <a:xfrm>
            <a:off x="3968272" y="2119982"/>
            <a:ext cx="4315781" cy="3743145"/>
            <a:chOff x="2871309" y="21467"/>
            <a:chExt cx="4315781" cy="3743145"/>
          </a:xfrm>
        </p:grpSpPr>
        <p:sp>
          <p:nvSpPr>
            <p:cNvPr id="428" name="Google Shape;428;p29"/>
            <p:cNvSpPr/>
            <p:nvPr/>
          </p:nvSpPr>
          <p:spPr>
            <a:xfrm>
              <a:off x="4273938" y="21467"/>
              <a:ext cx="1510523" cy="1493393"/>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9"/>
            <p:cNvSpPr/>
            <p:nvPr/>
          </p:nvSpPr>
          <p:spPr>
            <a:xfrm>
              <a:off x="2871309" y="1675816"/>
              <a:ext cx="4315781" cy="6400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9"/>
            <p:cNvSpPr txBox="1"/>
            <p:nvPr/>
          </p:nvSpPr>
          <p:spPr>
            <a:xfrm>
              <a:off x="2871309" y="1675816"/>
              <a:ext cx="4315781" cy="6400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600"/>
                <a:buFont typeface="Calibri"/>
                <a:buNone/>
              </a:pPr>
              <a:r>
                <a:rPr b="1" lang="es-MX" sz="3600">
                  <a:solidFill>
                    <a:schemeClr val="dk1"/>
                  </a:solidFill>
                  <a:latin typeface="Calibri"/>
                  <a:ea typeface="Calibri"/>
                  <a:cs typeface="Calibri"/>
                  <a:sym typeface="Calibri"/>
                </a:rPr>
                <a:t>Discusión en Clase:</a:t>
              </a:r>
              <a:endParaRPr sz="3600">
                <a:solidFill>
                  <a:schemeClr val="dk1"/>
                </a:solidFill>
                <a:latin typeface="Calibri"/>
                <a:ea typeface="Calibri"/>
                <a:cs typeface="Calibri"/>
                <a:sym typeface="Calibri"/>
              </a:endParaRPr>
            </a:p>
          </p:txBody>
        </p:sp>
        <p:sp>
          <p:nvSpPr>
            <p:cNvPr id="431" name="Google Shape;431;p29"/>
            <p:cNvSpPr/>
            <p:nvPr/>
          </p:nvSpPr>
          <p:spPr>
            <a:xfrm>
              <a:off x="2871309" y="2390705"/>
              <a:ext cx="4315781" cy="137390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
            <p:cNvSpPr txBox="1"/>
            <p:nvPr/>
          </p:nvSpPr>
          <p:spPr>
            <a:xfrm>
              <a:off x="2871309" y="2390705"/>
              <a:ext cx="4315781" cy="137390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Analizaremos ejemplos reales donde la heterogeneidad de datos ha afectado procesos empresariales.</a:t>
              </a:r>
              <a:endParaRPr sz="1700">
                <a:solidFill>
                  <a:schemeClr val="dk1"/>
                </a:solidFill>
                <a:latin typeface="Calibri"/>
                <a:ea typeface="Calibri"/>
                <a:cs typeface="Calibri"/>
                <a:sym typeface="Calibri"/>
              </a:endParaRPr>
            </a:p>
            <a:p>
              <a:pPr indent="0" lvl="0" marL="0" marR="0" rtl="0" algn="ctr">
                <a:lnSpc>
                  <a:spcPct val="100000"/>
                </a:lnSpc>
                <a:spcBef>
                  <a:spcPts val="595"/>
                </a:spcBef>
                <a:spcAft>
                  <a:spcPts val="0"/>
                </a:spcAft>
                <a:buClr>
                  <a:schemeClr val="dk1"/>
                </a:buClr>
                <a:buSzPts val="1700"/>
                <a:buFont typeface="Calibri"/>
                <a:buNone/>
              </a:pPr>
              <a:r>
                <a:rPr lang="es-MX" sz="1700">
                  <a:solidFill>
                    <a:schemeClr val="dk1"/>
                  </a:solidFill>
                  <a:latin typeface="Calibri"/>
                  <a:ea typeface="Calibri"/>
                  <a:cs typeface="Calibri"/>
                  <a:sym typeface="Calibri"/>
                </a:rPr>
                <a:t>Debatiremos sobre posibles soluciones y enfoques para mitigar estos desafíos.</a:t>
              </a:r>
              <a:endParaRPr sz="1700">
                <a:solidFill>
                  <a:schemeClr val="dk1"/>
                </a:solidFill>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6" name="Shape 436"/>
        <p:cNvGrpSpPr/>
        <p:nvPr/>
      </p:nvGrpSpPr>
      <p:grpSpPr>
        <a:xfrm>
          <a:off x="0" y="0"/>
          <a:ext cx="0" cy="0"/>
          <a:chOff x="0" y="0"/>
          <a:chExt cx="0" cy="0"/>
        </a:xfrm>
      </p:grpSpPr>
      <p:sp>
        <p:nvSpPr>
          <p:cNvPr id="437" name="Google Shape;437;p30"/>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8" name="Google Shape;438;p30"/>
          <p:cNvSpPr txBox="1"/>
          <p:nvPr>
            <p:ph type="title"/>
          </p:nvPr>
        </p:nvSpPr>
        <p:spPr>
          <a:xfrm>
            <a:off x="3481754" y="634946"/>
            <a:ext cx="8067989"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Integración de datos en la industria de la salud</a:t>
            </a:r>
            <a:endParaRPr/>
          </a:p>
        </p:txBody>
      </p:sp>
      <p:pic>
        <p:nvPicPr>
          <p:cNvPr descr="Medicina" id="439" name="Google Shape;439;p30"/>
          <p:cNvPicPr preferRelativeResize="0"/>
          <p:nvPr/>
        </p:nvPicPr>
        <p:blipFill rotWithShape="1">
          <a:blip r:embed="rId3">
            <a:alphaModFix/>
          </a:blip>
          <a:srcRect b="0" l="0" r="0" t="0"/>
          <a:stretch/>
        </p:blipFill>
        <p:spPr>
          <a:xfrm>
            <a:off x="24403" y="1296626"/>
            <a:ext cx="4001315" cy="4001315"/>
          </a:xfrm>
          <a:prstGeom prst="rect">
            <a:avLst/>
          </a:prstGeom>
          <a:noFill/>
          <a:ln>
            <a:noFill/>
          </a:ln>
        </p:spPr>
      </p:pic>
      <p:cxnSp>
        <p:nvCxnSpPr>
          <p:cNvPr id="440" name="Google Shape;440;p30"/>
          <p:cNvCxnSpPr/>
          <p:nvPr/>
        </p:nvCxnSpPr>
        <p:spPr>
          <a:xfrm>
            <a:off x="4974770" y="2086188"/>
            <a:ext cx="608976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441" name="Google Shape;441;p30"/>
          <p:cNvSpPr txBox="1"/>
          <p:nvPr>
            <p:ph idx="1" type="body"/>
          </p:nvPr>
        </p:nvSpPr>
        <p:spPr>
          <a:xfrm>
            <a:off x="3481753" y="2198914"/>
            <a:ext cx="8067990" cy="3670180"/>
          </a:xfrm>
          <a:prstGeom prst="rect">
            <a:avLst/>
          </a:prstGeom>
          <a:noFill/>
          <a:ln>
            <a:noFill/>
          </a:ln>
        </p:spPr>
        <p:txBody>
          <a:bodyPr anchorCtr="0" anchor="t" bIns="45700" lIns="0" spcFirstLastPara="1" rIns="0" wrap="square" tIns="45700">
            <a:normAutofit/>
          </a:bodyPr>
          <a:lstStyle/>
          <a:p>
            <a:pPr indent="-127000" lvl="0" marL="91440" rtl="0" algn="just">
              <a:lnSpc>
                <a:spcPct val="90000"/>
              </a:lnSpc>
              <a:spcBef>
                <a:spcPts val="0"/>
              </a:spcBef>
              <a:spcAft>
                <a:spcPts val="0"/>
              </a:spcAft>
              <a:buSzPts val="2000"/>
              <a:buChar char=" "/>
            </a:pPr>
            <a:r>
              <a:rPr lang="es-MX"/>
              <a:t>En un hospital que utiliza múltiples sistemas de gestión para diferentes departamentos (admisiones, farmacia, laboratorio y facturación), la falta de integración de datos entre estos sistemas creó graves problemas. Los datos de los pacientes estaban distribuidos en diferentes formatos:</a:t>
            </a:r>
            <a:endParaRPr/>
          </a:p>
          <a:p>
            <a:pPr indent="-127000" lvl="0" marL="91440" rtl="0" algn="just">
              <a:lnSpc>
                <a:spcPct val="90000"/>
              </a:lnSpc>
              <a:spcBef>
                <a:spcPts val="1400"/>
              </a:spcBef>
              <a:spcAft>
                <a:spcPts val="0"/>
              </a:spcAft>
              <a:buSzPts val="2000"/>
              <a:buFont typeface="Arial"/>
              <a:buChar char="•"/>
            </a:pPr>
            <a:r>
              <a:rPr lang="es-MX"/>
              <a:t>El sistema de admisiones almacenaba datos en una base de datos relacional (SQL).</a:t>
            </a:r>
            <a:endParaRPr/>
          </a:p>
          <a:p>
            <a:pPr indent="-127000" lvl="0" marL="91440" rtl="0" algn="just">
              <a:lnSpc>
                <a:spcPct val="90000"/>
              </a:lnSpc>
              <a:spcBef>
                <a:spcPts val="1400"/>
              </a:spcBef>
              <a:spcAft>
                <a:spcPts val="0"/>
              </a:spcAft>
              <a:buSzPts val="2000"/>
              <a:buFont typeface="Arial"/>
              <a:buChar char="•"/>
            </a:pPr>
            <a:r>
              <a:rPr lang="es-MX"/>
              <a:t>El laboratorio usaba archivos en formato CSV para registrar resultados.</a:t>
            </a:r>
            <a:endParaRPr/>
          </a:p>
          <a:p>
            <a:pPr indent="-127000" lvl="0" marL="91440" rtl="0" algn="just">
              <a:lnSpc>
                <a:spcPct val="90000"/>
              </a:lnSpc>
              <a:spcBef>
                <a:spcPts val="1400"/>
              </a:spcBef>
              <a:spcAft>
                <a:spcPts val="0"/>
              </a:spcAft>
              <a:buSzPts val="2000"/>
              <a:buFont typeface="Arial"/>
              <a:buChar char="•"/>
            </a:pPr>
            <a:r>
              <a:rPr lang="es-MX"/>
              <a:t>La farmacia empleaba un sistema basado en XML para manejar inventarios y recetas.</a:t>
            </a:r>
            <a:endParaRPr/>
          </a:p>
          <a:p>
            <a:pPr indent="0" lvl="0" marL="91440" rtl="0" algn="just">
              <a:lnSpc>
                <a:spcPct val="90000"/>
              </a:lnSpc>
              <a:spcBef>
                <a:spcPts val="1400"/>
              </a:spcBef>
              <a:spcAft>
                <a:spcPts val="0"/>
              </a:spcAft>
              <a:buSzPts val="2000"/>
              <a:buNone/>
            </a:pPr>
            <a:r>
              <a:t/>
            </a:r>
            <a:endParaRPr/>
          </a:p>
        </p:txBody>
      </p:sp>
      <p:sp>
        <p:nvSpPr>
          <p:cNvPr id="442" name="Google Shape;442;p30"/>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30"/>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7" name="Shape 447"/>
        <p:cNvGrpSpPr/>
        <p:nvPr/>
      </p:nvGrpSpPr>
      <p:grpSpPr>
        <a:xfrm>
          <a:off x="0" y="0"/>
          <a:ext cx="0" cy="0"/>
          <a:chOff x="0" y="0"/>
          <a:chExt cx="0" cy="0"/>
        </a:xfrm>
      </p:grpSpPr>
      <p:sp>
        <p:nvSpPr>
          <p:cNvPr id="448" name="Google Shape;448;p31"/>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31"/>
          <p:cNvSpPr txBox="1"/>
          <p:nvPr>
            <p:ph type="title"/>
          </p:nvPr>
        </p:nvSpPr>
        <p:spPr>
          <a:xfrm>
            <a:off x="6728459" y="634946"/>
            <a:ext cx="4821283"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700"/>
              <a:buFont typeface="Calibri"/>
              <a:buNone/>
            </a:pPr>
            <a:r>
              <a:rPr lang="es-MX" sz="3700"/>
              <a:t>Integración de datos en la industria de la salud</a:t>
            </a:r>
            <a:endParaRPr/>
          </a:p>
        </p:txBody>
      </p:sp>
      <p:sp>
        <p:nvSpPr>
          <p:cNvPr id="450" name="Google Shape;450;p31"/>
          <p:cNvSpPr/>
          <p:nvPr/>
        </p:nvSpPr>
        <p:spPr>
          <a:xfrm>
            <a:off x="321733" y="321733"/>
            <a:ext cx="3057906" cy="3408237"/>
          </a:xfrm>
          <a:prstGeom prst="rect">
            <a:avLst/>
          </a:prstGeom>
          <a:solidFill>
            <a:srgbClr val="FFFFFF"/>
          </a:solidFill>
          <a:ln cap="flat" cmpd="sng" w="635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Impaciente con relleno sólido" id="451" name="Google Shape;451;p31"/>
          <p:cNvPicPr preferRelativeResize="0"/>
          <p:nvPr/>
        </p:nvPicPr>
        <p:blipFill rotWithShape="1">
          <a:blip r:embed="rId3">
            <a:alphaModFix/>
          </a:blip>
          <a:srcRect b="0" l="0" r="0" t="0"/>
          <a:stretch/>
        </p:blipFill>
        <p:spPr>
          <a:xfrm>
            <a:off x="458336" y="633502"/>
            <a:ext cx="2784700" cy="2784700"/>
          </a:xfrm>
          <a:prstGeom prst="rect">
            <a:avLst/>
          </a:prstGeom>
          <a:noFill/>
          <a:ln>
            <a:noFill/>
          </a:ln>
        </p:spPr>
      </p:pic>
      <p:sp>
        <p:nvSpPr>
          <p:cNvPr id="452" name="Google Shape;452;p31"/>
          <p:cNvSpPr/>
          <p:nvPr/>
        </p:nvSpPr>
        <p:spPr>
          <a:xfrm>
            <a:off x="3512061" y="321733"/>
            <a:ext cx="2583939" cy="19552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53" name="Google Shape;453;p31"/>
          <p:cNvCxnSpPr/>
          <p:nvPr/>
        </p:nvCxnSpPr>
        <p:spPr>
          <a:xfrm>
            <a:off x="6840096" y="2085703"/>
            <a:ext cx="4114800"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454" name="Google Shape;454;p31"/>
          <p:cNvSpPr/>
          <p:nvPr/>
        </p:nvSpPr>
        <p:spPr>
          <a:xfrm>
            <a:off x="321733" y="3879167"/>
            <a:ext cx="3057906" cy="2135564"/>
          </a:xfrm>
          <a:prstGeom prst="rect">
            <a:avLst/>
          </a:prstGeom>
          <a:solidFill>
            <a:srgbClr val="ACC8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5" name="Google Shape;455;p31"/>
          <p:cNvSpPr/>
          <p:nvPr/>
        </p:nvSpPr>
        <p:spPr>
          <a:xfrm>
            <a:off x="3528588" y="2451014"/>
            <a:ext cx="2567411" cy="3532765"/>
          </a:xfrm>
          <a:prstGeom prst="rect">
            <a:avLst/>
          </a:prstGeom>
          <a:solidFill>
            <a:srgbClr val="FFFFFF"/>
          </a:solidFill>
          <a:ln cap="flat" cmpd="sng" w="635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Doctora con relleno sólido" id="456" name="Google Shape;456;p31"/>
          <p:cNvPicPr preferRelativeResize="0"/>
          <p:nvPr/>
        </p:nvPicPr>
        <p:blipFill rotWithShape="1">
          <a:blip r:embed="rId4">
            <a:alphaModFix/>
          </a:blip>
          <a:srcRect b="0" l="0" r="0" t="0"/>
          <a:stretch/>
        </p:blipFill>
        <p:spPr>
          <a:xfrm>
            <a:off x="3664752" y="3069855"/>
            <a:ext cx="2295082" cy="2295082"/>
          </a:xfrm>
          <a:prstGeom prst="rect">
            <a:avLst/>
          </a:prstGeom>
          <a:noFill/>
          <a:ln>
            <a:noFill/>
          </a:ln>
        </p:spPr>
      </p:pic>
      <p:sp>
        <p:nvSpPr>
          <p:cNvPr id="457" name="Google Shape;457;p31"/>
          <p:cNvSpPr txBox="1"/>
          <p:nvPr>
            <p:ph idx="1" type="body"/>
          </p:nvPr>
        </p:nvSpPr>
        <p:spPr>
          <a:xfrm>
            <a:off x="6728459" y="2198914"/>
            <a:ext cx="4821283" cy="3670180"/>
          </a:xfrm>
          <a:prstGeom prst="rect">
            <a:avLst/>
          </a:prstGeom>
          <a:noFill/>
          <a:ln>
            <a:noFill/>
          </a:ln>
        </p:spPr>
        <p:txBody>
          <a:bodyPr anchorCtr="0" anchor="t" bIns="45700" lIns="0" spcFirstLastPara="1" rIns="0" wrap="square" tIns="45700">
            <a:normAutofit/>
          </a:bodyPr>
          <a:lstStyle/>
          <a:p>
            <a:pPr indent="-120650" lvl="0" marL="91440" rtl="0" algn="l">
              <a:lnSpc>
                <a:spcPct val="90000"/>
              </a:lnSpc>
              <a:spcBef>
                <a:spcPts val="0"/>
              </a:spcBef>
              <a:spcAft>
                <a:spcPts val="0"/>
              </a:spcAft>
              <a:buSzPts val="1900"/>
              <a:buChar char=" "/>
            </a:pPr>
            <a:r>
              <a:rPr b="1" lang="es-MX" sz="1900"/>
              <a:t>Problema:</a:t>
            </a:r>
            <a:endParaRPr sz="1900"/>
          </a:p>
          <a:p>
            <a:pPr indent="-120650" lvl="0" marL="91440" rtl="0" algn="l">
              <a:lnSpc>
                <a:spcPct val="90000"/>
              </a:lnSpc>
              <a:spcBef>
                <a:spcPts val="1400"/>
              </a:spcBef>
              <a:spcAft>
                <a:spcPts val="0"/>
              </a:spcAft>
              <a:buSzPts val="1900"/>
              <a:buFont typeface="Arial"/>
              <a:buChar char="•"/>
            </a:pPr>
            <a:r>
              <a:rPr b="1" lang="es-MX" sz="1900"/>
              <a:t>Heterogeneidad Semántica:</a:t>
            </a:r>
            <a:r>
              <a:rPr lang="es-MX" sz="1900"/>
              <a:t> Campos como "ID paciente" tenían diferentes definiciones en los sistemas: en uno era un número único y en otro un número combinado con una fecha.</a:t>
            </a:r>
            <a:endParaRPr/>
          </a:p>
          <a:p>
            <a:pPr indent="-120650" lvl="0" marL="91440" rtl="0" algn="l">
              <a:lnSpc>
                <a:spcPct val="90000"/>
              </a:lnSpc>
              <a:spcBef>
                <a:spcPts val="1400"/>
              </a:spcBef>
              <a:spcAft>
                <a:spcPts val="0"/>
              </a:spcAft>
              <a:buSzPts val="1900"/>
              <a:buFont typeface="Arial"/>
              <a:buChar char="•"/>
            </a:pPr>
            <a:r>
              <a:rPr b="1" lang="es-MX" sz="1900"/>
              <a:t>Heterogeneidad Sintáctica:</a:t>
            </a:r>
            <a:r>
              <a:rPr lang="es-MX" sz="1900"/>
              <a:t> Las estructuras de datos y los formatos dificultaban la interoperabilidad. Por ejemplo, los resultados de laboratorio eran exportados como tablas planas en CSV, pero el sistema de facturación requería un formato XML específico.</a:t>
            </a:r>
            <a:endParaRPr/>
          </a:p>
          <a:p>
            <a:pPr indent="0" lvl="0" marL="91440" rtl="0" algn="l">
              <a:lnSpc>
                <a:spcPct val="90000"/>
              </a:lnSpc>
              <a:spcBef>
                <a:spcPts val="1400"/>
              </a:spcBef>
              <a:spcAft>
                <a:spcPts val="0"/>
              </a:spcAft>
              <a:buSzPts val="1900"/>
              <a:buNone/>
            </a:pPr>
            <a:r>
              <a:t/>
            </a:r>
            <a:endParaRPr sz="1900"/>
          </a:p>
        </p:txBody>
      </p:sp>
      <p:sp>
        <p:nvSpPr>
          <p:cNvPr id="458" name="Google Shape;458;p31"/>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31"/>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3" name="Shape 463"/>
        <p:cNvGrpSpPr/>
        <p:nvPr/>
      </p:nvGrpSpPr>
      <p:grpSpPr>
        <a:xfrm>
          <a:off x="0" y="0"/>
          <a:ext cx="0" cy="0"/>
          <a:chOff x="0" y="0"/>
          <a:chExt cx="0" cy="0"/>
        </a:xfrm>
      </p:grpSpPr>
      <p:sp>
        <p:nvSpPr>
          <p:cNvPr id="464" name="Google Shape;464;p32"/>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32"/>
          <p:cNvSpPr txBox="1"/>
          <p:nvPr>
            <p:ph type="title"/>
          </p:nvPr>
        </p:nvSpPr>
        <p:spPr>
          <a:xfrm>
            <a:off x="4974771" y="634946"/>
            <a:ext cx="657497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Integración de datos en la industria de la salud</a:t>
            </a:r>
            <a:endParaRPr/>
          </a:p>
        </p:txBody>
      </p:sp>
      <p:pic>
        <p:nvPicPr>
          <p:cNvPr descr="Cápsulas y píldoras dentro de un cuenco de cristal" id="466" name="Google Shape;466;p32"/>
          <p:cNvPicPr preferRelativeResize="0"/>
          <p:nvPr/>
        </p:nvPicPr>
        <p:blipFill rotWithShape="1">
          <a:blip r:embed="rId3">
            <a:alphaModFix/>
          </a:blip>
          <a:srcRect b="2" l="0" r="43532" t="0"/>
          <a:stretch/>
        </p:blipFill>
        <p:spPr>
          <a:xfrm>
            <a:off x="633999" y="640081"/>
            <a:ext cx="4001315" cy="5314406"/>
          </a:xfrm>
          <a:prstGeom prst="rect">
            <a:avLst/>
          </a:prstGeom>
          <a:noFill/>
          <a:ln>
            <a:noFill/>
          </a:ln>
        </p:spPr>
      </p:pic>
      <p:cxnSp>
        <p:nvCxnSpPr>
          <p:cNvPr id="467" name="Google Shape;467;p32"/>
          <p:cNvCxnSpPr/>
          <p:nvPr/>
        </p:nvCxnSpPr>
        <p:spPr>
          <a:xfrm>
            <a:off x="4974770" y="2086188"/>
            <a:ext cx="608976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468" name="Google Shape;468;p32"/>
          <p:cNvSpPr txBox="1"/>
          <p:nvPr>
            <p:ph idx="1" type="body"/>
          </p:nvPr>
        </p:nvSpPr>
        <p:spPr>
          <a:xfrm>
            <a:off x="4974769" y="2198914"/>
            <a:ext cx="6574973" cy="367018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Impacto:</a:t>
            </a:r>
            <a:endParaRPr/>
          </a:p>
          <a:p>
            <a:pPr indent="-127000" lvl="0" marL="91440" rtl="0" algn="l">
              <a:lnSpc>
                <a:spcPct val="90000"/>
              </a:lnSpc>
              <a:spcBef>
                <a:spcPts val="1400"/>
              </a:spcBef>
              <a:spcAft>
                <a:spcPts val="0"/>
              </a:spcAft>
              <a:buSzPts val="2000"/>
              <a:buFont typeface="Arial"/>
              <a:buChar char="•"/>
            </a:pPr>
            <a:r>
              <a:rPr lang="es-MX"/>
              <a:t>La falta de integración llevó a errores en los datos, como medicamentos prescritos incorrectamente debido a identificaciones de pacientes ambiguas.</a:t>
            </a:r>
            <a:endParaRPr/>
          </a:p>
          <a:p>
            <a:pPr indent="-127000" lvl="0" marL="91440" rtl="0" algn="l">
              <a:lnSpc>
                <a:spcPct val="90000"/>
              </a:lnSpc>
              <a:spcBef>
                <a:spcPts val="1400"/>
              </a:spcBef>
              <a:spcAft>
                <a:spcPts val="0"/>
              </a:spcAft>
              <a:buSzPts val="2000"/>
              <a:buFont typeface="Arial"/>
              <a:buChar char="•"/>
            </a:pPr>
            <a:r>
              <a:rPr lang="es-MX"/>
              <a:t>Procesos como la facturación médica y la emisión de reportes de resultados a los pacientes se retrasaron significativamente.</a:t>
            </a:r>
            <a:endParaRPr/>
          </a:p>
          <a:p>
            <a:pPr indent="-127000" lvl="0" marL="91440" rtl="0" algn="l">
              <a:lnSpc>
                <a:spcPct val="90000"/>
              </a:lnSpc>
              <a:spcBef>
                <a:spcPts val="1400"/>
              </a:spcBef>
              <a:spcAft>
                <a:spcPts val="0"/>
              </a:spcAft>
              <a:buSzPts val="2000"/>
              <a:buFont typeface="Arial"/>
              <a:buChar char="•"/>
            </a:pPr>
            <a:r>
              <a:rPr lang="es-MX"/>
              <a:t>El tiempo de respuesta para emergencias aumentó debido a la falta de un sistema centralizado para acceder al historial médico completo.</a:t>
            </a:r>
            <a:endParaRPr/>
          </a:p>
          <a:p>
            <a:pPr indent="0" lvl="0" marL="91440" rtl="0" algn="l">
              <a:lnSpc>
                <a:spcPct val="90000"/>
              </a:lnSpc>
              <a:spcBef>
                <a:spcPts val="1400"/>
              </a:spcBef>
              <a:spcAft>
                <a:spcPts val="0"/>
              </a:spcAft>
              <a:buSzPts val="2000"/>
              <a:buNone/>
            </a:pPr>
            <a:r>
              <a:t/>
            </a:r>
            <a:endParaRPr/>
          </a:p>
        </p:txBody>
      </p:sp>
      <p:sp>
        <p:nvSpPr>
          <p:cNvPr id="469" name="Google Shape;469;p32"/>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32"/>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4" name="Shape 474"/>
        <p:cNvGrpSpPr/>
        <p:nvPr/>
      </p:nvGrpSpPr>
      <p:grpSpPr>
        <a:xfrm>
          <a:off x="0" y="0"/>
          <a:ext cx="0" cy="0"/>
          <a:chOff x="0" y="0"/>
          <a:chExt cx="0" cy="0"/>
        </a:xfrm>
      </p:grpSpPr>
      <p:sp>
        <p:nvSpPr>
          <p:cNvPr id="475" name="Google Shape;475;p33"/>
          <p:cNvSpPr/>
          <p:nvPr/>
        </p:nvSpPr>
        <p:spPr>
          <a:xfrm>
            <a:off x="3175" y="6400800"/>
            <a:ext cx="12188825"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76" name="Google Shape;476;p33"/>
          <p:cNvSpPr/>
          <p:nvPr/>
        </p:nvSpPr>
        <p:spPr>
          <a:xfrm>
            <a:off x="15" y="6334316"/>
            <a:ext cx="12188825" cy="6400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477" name="Google Shape;477;p33"/>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478" name="Google Shape;478;p33"/>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p33"/>
          <p:cNvSpPr txBox="1"/>
          <p:nvPr>
            <p:ph type="title"/>
          </p:nvPr>
        </p:nvSpPr>
        <p:spPr>
          <a:xfrm>
            <a:off x="5289754" y="639097"/>
            <a:ext cx="6253317" cy="3686015"/>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s-MX" sz="8000">
                <a:solidFill>
                  <a:srgbClr val="262626"/>
                </a:solidFill>
              </a:rPr>
              <a:t>Propuestas de solución</a:t>
            </a:r>
            <a:endParaRPr sz="8000">
              <a:solidFill>
                <a:srgbClr val="262626"/>
              </a:solidFill>
            </a:endParaRPr>
          </a:p>
        </p:txBody>
      </p:sp>
      <p:pic>
        <p:nvPicPr>
          <p:cNvPr descr="Lightbulb" id="480" name="Google Shape;480;p33"/>
          <p:cNvPicPr preferRelativeResize="0"/>
          <p:nvPr/>
        </p:nvPicPr>
        <p:blipFill rotWithShape="1">
          <a:blip r:embed="rId3">
            <a:alphaModFix/>
          </a:blip>
          <a:srcRect b="0" l="0" r="0" t="0"/>
          <a:stretch/>
        </p:blipFill>
        <p:spPr>
          <a:xfrm>
            <a:off x="633999" y="1163529"/>
            <a:ext cx="4001315" cy="4001315"/>
          </a:xfrm>
          <a:prstGeom prst="rect">
            <a:avLst/>
          </a:prstGeom>
          <a:noFill/>
          <a:ln>
            <a:noFill/>
          </a:ln>
        </p:spPr>
      </p:pic>
      <p:cxnSp>
        <p:nvCxnSpPr>
          <p:cNvPr id="481" name="Google Shape;481;p33"/>
          <p:cNvCxnSpPr/>
          <p:nvPr/>
        </p:nvCxnSpPr>
        <p:spPr>
          <a:xfrm>
            <a:off x="5447071" y="4343400"/>
            <a:ext cx="5636107" cy="0"/>
          </a:xfrm>
          <a:prstGeom prst="straightConnector1">
            <a:avLst/>
          </a:prstGeom>
          <a:noFill/>
          <a:ln cap="flat" cmpd="sng" w="9525">
            <a:solidFill>
              <a:schemeClr val="dk2">
                <a:alpha val="89803"/>
              </a:schemeClr>
            </a:solidFill>
            <a:prstDash val="solid"/>
            <a:round/>
            <a:headEnd len="sm" w="sm" type="none"/>
            <a:tailEnd len="sm" w="sm" type="none"/>
          </a:ln>
        </p:spPr>
      </p:cxnSp>
      <p:sp>
        <p:nvSpPr>
          <p:cNvPr id="482" name="Google Shape;482;p33"/>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83" name="Google Shape;483;p33"/>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7" name="Shape 487"/>
        <p:cNvGrpSpPr/>
        <p:nvPr/>
      </p:nvGrpSpPr>
      <p:grpSpPr>
        <a:xfrm>
          <a:off x="0" y="0"/>
          <a:ext cx="0" cy="0"/>
          <a:chOff x="0" y="0"/>
          <a:chExt cx="0" cy="0"/>
        </a:xfrm>
      </p:grpSpPr>
      <p:sp>
        <p:nvSpPr>
          <p:cNvPr id="488" name="Google Shape;488;p34"/>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34"/>
          <p:cNvSpPr txBox="1"/>
          <p:nvPr>
            <p:ph type="title"/>
          </p:nvPr>
        </p:nvSpPr>
        <p:spPr>
          <a:xfrm>
            <a:off x="4974771" y="634946"/>
            <a:ext cx="657497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Integración de datos en la industria de la salud</a:t>
            </a:r>
            <a:endParaRPr/>
          </a:p>
        </p:txBody>
      </p:sp>
      <p:cxnSp>
        <p:nvCxnSpPr>
          <p:cNvPr id="490" name="Google Shape;490;p34"/>
          <p:cNvCxnSpPr/>
          <p:nvPr/>
        </p:nvCxnSpPr>
        <p:spPr>
          <a:xfrm>
            <a:off x="4974770" y="2086188"/>
            <a:ext cx="608976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491" name="Google Shape;491;p34"/>
          <p:cNvSpPr txBox="1"/>
          <p:nvPr>
            <p:ph idx="1" type="body"/>
          </p:nvPr>
        </p:nvSpPr>
        <p:spPr>
          <a:xfrm>
            <a:off x="4974769" y="2198914"/>
            <a:ext cx="6574973" cy="367018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Solución Implementada:</a:t>
            </a:r>
            <a:r>
              <a:rPr lang="es-MX"/>
              <a:t> El hospital adoptó un enfoque híbrido de integración de datos:</a:t>
            </a:r>
            <a:endParaRPr/>
          </a:p>
          <a:p>
            <a:pPr indent="-127000" lvl="0" marL="91440" rtl="0" algn="l">
              <a:lnSpc>
                <a:spcPct val="90000"/>
              </a:lnSpc>
              <a:spcBef>
                <a:spcPts val="1400"/>
              </a:spcBef>
              <a:spcAft>
                <a:spcPts val="0"/>
              </a:spcAft>
              <a:buSzPts val="2000"/>
              <a:buFont typeface="Calibri"/>
              <a:buAutoNum type="arabicPeriod"/>
            </a:pPr>
            <a:r>
              <a:rPr b="1" lang="es-MX"/>
              <a:t>Materialización:</a:t>
            </a:r>
            <a:r>
              <a:rPr lang="es-MX"/>
              <a:t> Un Data Warehouse consolidó la información crítica de todos los sistemas.</a:t>
            </a:r>
            <a:endParaRPr/>
          </a:p>
          <a:p>
            <a:pPr indent="-127000" lvl="0" marL="91440" rtl="0" algn="l">
              <a:lnSpc>
                <a:spcPct val="90000"/>
              </a:lnSpc>
              <a:spcBef>
                <a:spcPts val="1400"/>
              </a:spcBef>
              <a:spcAft>
                <a:spcPts val="0"/>
              </a:spcAft>
              <a:buSzPts val="2000"/>
              <a:buFont typeface="Calibri"/>
              <a:buAutoNum type="arabicPeriod"/>
            </a:pPr>
            <a:r>
              <a:rPr b="1" lang="es-MX"/>
              <a:t>Virtualización:</a:t>
            </a:r>
            <a:r>
              <a:rPr lang="es-MX"/>
              <a:t> Para datos en tiempo real, se crearon vistas virtuales que transformaban automáticamente los formatos de entrada.</a:t>
            </a:r>
            <a:endParaRPr/>
          </a:p>
          <a:p>
            <a:pPr indent="-127000" lvl="0" marL="91440" rtl="0" algn="l">
              <a:lnSpc>
                <a:spcPct val="90000"/>
              </a:lnSpc>
              <a:spcBef>
                <a:spcPts val="1400"/>
              </a:spcBef>
              <a:spcAft>
                <a:spcPts val="0"/>
              </a:spcAft>
              <a:buSzPts val="2000"/>
              <a:buFont typeface="Calibri"/>
              <a:buAutoNum type="arabicPeriod"/>
            </a:pPr>
            <a:r>
              <a:rPr b="1" lang="es-MX"/>
              <a:t>Mapeo Semántico:</a:t>
            </a:r>
            <a:r>
              <a:rPr lang="es-MX"/>
              <a:t> Se definieron reglas estándar para interpretar campos clave como "ID paciente."</a:t>
            </a:r>
            <a:endParaRPr/>
          </a:p>
          <a:p>
            <a:pPr indent="0" lvl="0" marL="91440" rtl="0" algn="l">
              <a:lnSpc>
                <a:spcPct val="90000"/>
              </a:lnSpc>
              <a:spcBef>
                <a:spcPts val="1400"/>
              </a:spcBef>
              <a:spcAft>
                <a:spcPts val="0"/>
              </a:spcAft>
              <a:buSzPts val="2000"/>
              <a:buNone/>
            </a:pPr>
            <a:r>
              <a:t/>
            </a:r>
            <a:endParaRPr/>
          </a:p>
        </p:txBody>
      </p:sp>
      <p:sp>
        <p:nvSpPr>
          <p:cNvPr id="492" name="Google Shape;492;p34"/>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93" name="Google Shape;493;p34"/>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descr="Handshake" id="494" name="Google Shape;494;p34"/>
          <p:cNvPicPr preferRelativeResize="0"/>
          <p:nvPr/>
        </p:nvPicPr>
        <p:blipFill rotWithShape="1">
          <a:blip r:embed="rId3">
            <a:alphaModFix/>
          </a:blip>
          <a:srcRect b="0" l="0" r="0" t="0"/>
          <a:stretch/>
        </p:blipFill>
        <p:spPr>
          <a:xfrm>
            <a:off x="786399" y="1315929"/>
            <a:ext cx="4001315" cy="400131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8" name="Shape 498"/>
        <p:cNvGrpSpPr/>
        <p:nvPr/>
      </p:nvGrpSpPr>
      <p:grpSpPr>
        <a:xfrm>
          <a:off x="0" y="0"/>
          <a:ext cx="0" cy="0"/>
          <a:chOff x="0" y="0"/>
          <a:chExt cx="0" cy="0"/>
        </a:xfrm>
      </p:grpSpPr>
      <p:sp>
        <p:nvSpPr>
          <p:cNvPr id="499" name="Google Shape;499;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Análisis</a:t>
            </a:r>
            <a:endParaRPr/>
          </a:p>
        </p:txBody>
      </p:sp>
      <p:grpSp>
        <p:nvGrpSpPr>
          <p:cNvPr id="500" name="Google Shape;500;p35"/>
          <p:cNvGrpSpPr/>
          <p:nvPr/>
        </p:nvGrpSpPr>
        <p:grpSpPr>
          <a:xfrm>
            <a:off x="3966162" y="2415931"/>
            <a:ext cx="4320000" cy="3151246"/>
            <a:chOff x="2869199" y="317416"/>
            <a:chExt cx="4320000" cy="3151246"/>
          </a:xfrm>
        </p:grpSpPr>
        <p:sp>
          <p:nvSpPr>
            <p:cNvPr id="501" name="Google Shape;501;p35"/>
            <p:cNvSpPr/>
            <p:nvPr/>
          </p:nvSpPr>
          <p:spPr>
            <a:xfrm>
              <a:off x="4273199" y="317416"/>
              <a:ext cx="1512000" cy="1512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5"/>
            <p:cNvSpPr/>
            <p:nvPr/>
          </p:nvSpPr>
          <p:spPr>
            <a:xfrm>
              <a:off x="2869199" y="1964920"/>
              <a:ext cx="4320000" cy="64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5"/>
            <p:cNvSpPr txBox="1"/>
            <p:nvPr/>
          </p:nvSpPr>
          <p:spPr>
            <a:xfrm>
              <a:off x="2869199" y="1964920"/>
              <a:ext cx="4320000" cy="6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3600"/>
                <a:buFont typeface="Calibri"/>
                <a:buNone/>
              </a:pPr>
              <a:r>
                <a:rPr b="1" lang="es-MX" sz="3600">
                  <a:solidFill>
                    <a:schemeClr val="dk1"/>
                  </a:solidFill>
                  <a:latin typeface="Calibri"/>
                  <a:ea typeface="Calibri"/>
                  <a:cs typeface="Calibri"/>
                  <a:sym typeface="Calibri"/>
                </a:rPr>
                <a:t>Estudio de Casos:</a:t>
              </a:r>
              <a:endParaRPr sz="3600">
                <a:solidFill>
                  <a:schemeClr val="dk1"/>
                </a:solidFill>
                <a:latin typeface="Calibri"/>
                <a:ea typeface="Calibri"/>
                <a:cs typeface="Calibri"/>
                <a:sym typeface="Calibri"/>
              </a:endParaRPr>
            </a:p>
          </p:txBody>
        </p:sp>
        <p:sp>
          <p:nvSpPr>
            <p:cNvPr id="504" name="Google Shape;504;p35"/>
            <p:cNvSpPr/>
            <p:nvPr/>
          </p:nvSpPr>
          <p:spPr>
            <a:xfrm>
              <a:off x="2869199" y="2675945"/>
              <a:ext cx="4320000" cy="7927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5"/>
            <p:cNvSpPr txBox="1"/>
            <p:nvPr/>
          </p:nvSpPr>
          <p:spPr>
            <a:xfrm>
              <a:off x="2869199" y="2675945"/>
              <a:ext cx="4320000" cy="79271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700"/>
                <a:buFont typeface="Calibri"/>
                <a:buNone/>
              </a:pPr>
              <a:r>
                <a:rPr lang="es-MX" sz="1700">
                  <a:solidFill>
                    <a:schemeClr val="dk1"/>
                  </a:solidFill>
                  <a:latin typeface="Calibri"/>
                  <a:ea typeface="Calibri"/>
                  <a:cs typeface="Calibri"/>
                  <a:sym typeface="Calibri"/>
                </a:rPr>
                <a:t>Revisaremos casos de estudio donde se implementaron estrategias exitosas de integración de datos heterogéneos.</a:t>
              </a:r>
              <a:endParaRPr sz="1700">
                <a:solidFill>
                  <a:schemeClr val="dk1"/>
                </a:solidFill>
                <a:latin typeface="Calibri"/>
                <a:ea typeface="Calibri"/>
                <a:cs typeface="Calibri"/>
                <a:sym typeface="Calibri"/>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9" name="Shape 509"/>
        <p:cNvGrpSpPr/>
        <p:nvPr/>
      </p:nvGrpSpPr>
      <p:grpSpPr>
        <a:xfrm>
          <a:off x="0" y="0"/>
          <a:ext cx="0" cy="0"/>
          <a:chOff x="0" y="0"/>
          <a:chExt cx="0" cy="0"/>
        </a:xfrm>
      </p:grpSpPr>
      <p:sp>
        <p:nvSpPr>
          <p:cNvPr id="510" name="Google Shape;510;p36"/>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36"/>
          <p:cNvSpPr txBox="1"/>
          <p:nvPr>
            <p:ph type="title"/>
          </p:nvPr>
        </p:nvSpPr>
        <p:spPr>
          <a:xfrm>
            <a:off x="6411685" y="634946"/>
            <a:ext cx="5127171"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100"/>
              <a:buFont typeface="Calibri"/>
              <a:buNone/>
            </a:pPr>
            <a:r>
              <a:rPr lang="es-MX" sz="4100"/>
              <a:t>Fusión de bancos y consolidación de datos</a:t>
            </a:r>
            <a:endParaRPr sz="4100"/>
          </a:p>
        </p:txBody>
      </p:sp>
      <p:pic>
        <p:nvPicPr>
          <p:cNvPr descr="Banco" id="512" name="Google Shape;512;p36"/>
          <p:cNvPicPr preferRelativeResize="0"/>
          <p:nvPr/>
        </p:nvPicPr>
        <p:blipFill rotWithShape="1">
          <a:blip r:embed="rId3">
            <a:alphaModFix/>
          </a:blip>
          <a:srcRect b="0" l="0" r="0" t="0"/>
          <a:stretch/>
        </p:blipFill>
        <p:spPr>
          <a:xfrm>
            <a:off x="745132" y="645106"/>
            <a:ext cx="5247747" cy="5247747"/>
          </a:xfrm>
          <a:prstGeom prst="rect">
            <a:avLst/>
          </a:prstGeom>
          <a:noFill/>
          <a:ln>
            <a:noFill/>
          </a:ln>
        </p:spPr>
      </p:pic>
      <p:cxnSp>
        <p:nvCxnSpPr>
          <p:cNvPr id="513" name="Google Shape;513;p36"/>
          <p:cNvCxnSpPr/>
          <p:nvPr/>
        </p:nvCxnSpPr>
        <p:spPr>
          <a:xfrm>
            <a:off x="6411684" y="2086188"/>
            <a:ext cx="474880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514" name="Google Shape;514;p36"/>
          <p:cNvSpPr txBox="1"/>
          <p:nvPr>
            <p:ph idx="1" type="body"/>
          </p:nvPr>
        </p:nvSpPr>
        <p:spPr>
          <a:xfrm>
            <a:off x="6411684" y="2198914"/>
            <a:ext cx="5127172" cy="3670180"/>
          </a:xfrm>
          <a:prstGeom prst="rect">
            <a:avLst/>
          </a:prstGeom>
          <a:noFill/>
          <a:ln>
            <a:noFill/>
          </a:ln>
        </p:spPr>
        <p:txBody>
          <a:bodyPr anchorCtr="0" anchor="t" bIns="45700" lIns="0" spcFirstLastPara="1" rIns="0" wrap="square" tIns="45700">
            <a:normAutofit/>
          </a:bodyPr>
          <a:lstStyle/>
          <a:p>
            <a:pPr indent="-127000" lvl="0" marL="91440" rtl="0" algn="just">
              <a:lnSpc>
                <a:spcPct val="90000"/>
              </a:lnSpc>
              <a:spcBef>
                <a:spcPts val="0"/>
              </a:spcBef>
              <a:spcAft>
                <a:spcPts val="0"/>
              </a:spcAft>
              <a:buSzPts val="2000"/>
              <a:buChar char=" "/>
            </a:pPr>
            <a:r>
              <a:rPr lang="es-MX"/>
              <a:t>Dos grandes bancos internacionales, cada uno con sistemas de gestión de clientes (</a:t>
            </a:r>
            <a:r>
              <a:rPr lang="es-MX" u="sng">
                <a:solidFill>
                  <a:schemeClr val="hlink"/>
                </a:solidFill>
                <a:hlinkClick r:id="rId4"/>
              </a:rPr>
              <a:t>CRM</a:t>
            </a:r>
            <a:r>
              <a:rPr lang="es-MX"/>
              <a:t>) y transacciones financieras diferentes, se fusionaron. Los sistemas </a:t>
            </a:r>
            <a:r>
              <a:rPr lang="es-MX"/>
              <a:t>variaban</a:t>
            </a:r>
            <a:r>
              <a:rPr lang="es-MX"/>
              <a:t>:</a:t>
            </a:r>
            <a:endParaRPr/>
          </a:p>
          <a:p>
            <a:pPr indent="-127000" lvl="0" marL="91440" rtl="0" algn="just">
              <a:lnSpc>
                <a:spcPct val="90000"/>
              </a:lnSpc>
              <a:spcBef>
                <a:spcPts val="1400"/>
              </a:spcBef>
              <a:spcAft>
                <a:spcPts val="0"/>
              </a:spcAft>
              <a:buSzPts val="2000"/>
              <a:buFont typeface="Arial"/>
              <a:buChar char="•"/>
            </a:pPr>
            <a:r>
              <a:rPr lang="es-MX"/>
              <a:t>Banco A usaba un CRM basado en Microsoft Dynamics con datos almacenados en SQL Server.</a:t>
            </a:r>
            <a:endParaRPr/>
          </a:p>
          <a:p>
            <a:pPr indent="-127000" lvl="0" marL="91440" rtl="0" algn="just">
              <a:lnSpc>
                <a:spcPct val="90000"/>
              </a:lnSpc>
              <a:spcBef>
                <a:spcPts val="1400"/>
              </a:spcBef>
              <a:spcAft>
                <a:spcPts val="0"/>
              </a:spcAft>
              <a:buSzPts val="2000"/>
              <a:buFont typeface="Arial"/>
              <a:buChar char="•"/>
            </a:pPr>
            <a:r>
              <a:rPr lang="es-MX"/>
              <a:t>Banco B usaba un sistema propietario con datos en un almacén en la nube (Amazon Redshift).</a:t>
            </a:r>
            <a:endParaRPr/>
          </a:p>
          <a:p>
            <a:pPr indent="0" lvl="0" marL="91440" rtl="0" algn="just">
              <a:lnSpc>
                <a:spcPct val="90000"/>
              </a:lnSpc>
              <a:spcBef>
                <a:spcPts val="1400"/>
              </a:spcBef>
              <a:spcAft>
                <a:spcPts val="0"/>
              </a:spcAft>
              <a:buSzPts val="2000"/>
              <a:buNone/>
            </a:pPr>
            <a:r>
              <a:t/>
            </a:r>
            <a:endParaRPr/>
          </a:p>
        </p:txBody>
      </p:sp>
      <p:sp>
        <p:nvSpPr>
          <p:cNvPr id="515" name="Google Shape;515;p36"/>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16" name="Google Shape;516;p36"/>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0" name="Shape 520"/>
        <p:cNvGrpSpPr/>
        <p:nvPr/>
      </p:nvGrpSpPr>
      <p:grpSpPr>
        <a:xfrm>
          <a:off x="0" y="0"/>
          <a:ext cx="0" cy="0"/>
          <a:chOff x="0" y="0"/>
          <a:chExt cx="0" cy="0"/>
        </a:xfrm>
      </p:grpSpPr>
      <p:sp>
        <p:nvSpPr>
          <p:cNvPr id="521" name="Google Shape;521;p37"/>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 name="Google Shape;522;p37"/>
          <p:cNvSpPr txBox="1"/>
          <p:nvPr>
            <p:ph type="title"/>
          </p:nvPr>
        </p:nvSpPr>
        <p:spPr>
          <a:xfrm>
            <a:off x="6728459" y="634946"/>
            <a:ext cx="4821283"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100"/>
              <a:buFont typeface="Calibri"/>
              <a:buNone/>
            </a:pPr>
            <a:r>
              <a:rPr lang="es-MX" sz="4100"/>
              <a:t>Fusión de bancos y consolidación de datos</a:t>
            </a:r>
            <a:endParaRPr sz="4100"/>
          </a:p>
        </p:txBody>
      </p:sp>
      <p:sp>
        <p:nvSpPr>
          <p:cNvPr id="523" name="Google Shape;523;p37"/>
          <p:cNvSpPr/>
          <p:nvPr/>
        </p:nvSpPr>
        <p:spPr>
          <a:xfrm>
            <a:off x="321733" y="321733"/>
            <a:ext cx="3057906" cy="3408237"/>
          </a:xfrm>
          <a:prstGeom prst="rect">
            <a:avLst/>
          </a:prstGeom>
          <a:solidFill>
            <a:srgbClr val="FFFFFF"/>
          </a:solidFill>
          <a:ln cap="flat" cmpd="sng" w="635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24" name="Google Shape;524;p37"/>
          <p:cNvPicPr preferRelativeResize="0"/>
          <p:nvPr/>
        </p:nvPicPr>
        <p:blipFill rotWithShape="1">
          <a:blip r:embed="rId3">
            <a:alphaModFix/>
          </a:blip>
          <a:srcRect b="0" l="0" r="0" t="0"/>
          <a:stretch/>
        </p:blipFill>
        <p:spPr>
          <a:xfrm>
            <a:off x="458336" y="633502"/>
            <a:ext cx="2784700" cy="2784700"/>
          </a:xfrm>
          <a:prstGeom prst="rect">
            <a:avLst/>
          </a:prstGeom>
          <a:noFill/>
          <a:ln>
            <a:noFill/>
          </a:ln>
        </p:spPr>
      </p:pic>
      <p:sp>
        <p:nvSpPr>
          <p:cNvPr id="525" name="Google Shape;525;p37"/>
          <p:cNvSpPr/>
          <p:nvPr/>
        </p:nvSpPr>
        <p:spPr>
          <a:xfrm>
            <a:off x="3512061" y="321733"/>
            <a:ext cx="2583939" cy="19552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26" name="Google Shape;526;p37"/>
          <p:cNvCxnSpPr/>
          <p:nvPr/>
        </p:nvCxnSpPr>
        <p:spPr>
          <a:xfrm>
            <a:off x="6840096" y="2085703"/>
            <a:ext cx="4114800"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527" name="Google Shape;527;p37"/>
          <p:cNvSpPr/>
          <p:nvPr/>
        </p:nvSpPr>
        <p:spPr>
          <a:xfrm>
            <a:off x="321733" y="3879167"/>
            <a:ext cx="3057906" cy="2135564"/>
          </a:xfrm>
          <a:prstGeom prst="rect">
            <a:avLst/>
          </a:prstGeom>
          <a:solidFill>
            <a:srgbClr val="ACC8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 name="Google Shape;528;p37"/>
          <p:cNvSpPr/>
          <p:nvPr/>
        </p:nvSpPr>
        <p:spPr>
          <a:xfrm>
            <a:off x="3528588" y="2451014"/>
            <a:ext cx="2567411" cy="3532765"/>
          </a:xfrm>
          <a:prstGeom prst="rect">
            <a:avLst/>
          </a:prstGeom>
          <a:solidFill>
            <a:srgbClr val="FFFFFF"/>
          </a:solidFill>
          <a:ln cap="flat" cmpd="sng" w="635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29" name="Google Shape;529;p37"/>
          <p:cNvPicPr preferRelativeResize="0"/>
          <p:nvPr/>
        </p:nvPicPr>
        <p:blipFill rotWithShape="1">
          <a:blip r:embed="rId4">
            <a:alphaModFix/>
          </a:blip>
          <a:srcRect b="0" l="0" r="0" t="0"/>
          <a:stretch/>
        </p:blipFill>
        <p:spPr>
          <a:xfrm>
            <a:off x="3664752" y="3069855"/>
            <a:ext cx="2295082" cy="2295082"/>
          </a:xfrm>
          <a:prstGeom prst="rect">
            <a:avLst/>
          </a:prstGeom>
          <a:noFill/>
          <a:ln>
            <a:noFill/>
          </a:ln>
        </p:spPr>
      </p:pic>
      <p:sp>
        <p:nvSpPr>
          <p:cNvPr id="530" name="Google Shape;530;p37"/>
          <p:cNvSpPr txBox="1"/>
          <p:nvPr>
            <p:ph idx="1" type="body"/>
          </p:nvPr>
        </p:nvSpPr>
        <p:spPr>
          <a:xfrm>
            <a:off x="6728459" y="2198914"/>
            <a:ext cx="4821283" cy="3670180"/>
          </a:xfrm>
          <a:prstGeom prst="rect">
            <a:avLst/>
          </a:prstGeom>
          <a:noFill/>
          <a:ln>
            <a:noFill/>
          </a:ln>
        </p:spPr>
        <p:txBody>
          <a:bodyPr anchorCtr="0" anchor="t" bIns="45700" lIns="0" spcFirstLastPara="1" rIns="0" wrap="square" tIns="45700">
            <a:normAutofit/>
          </a:bodyPr>
          <a:lstStyle/>
          <a:p>
            <a:pPr indent="-120650" lvl="0" marL="91440" rtl="0" algn="l">
              <a:lnSpc>
                <a:spcPct val="90000"/>
              </a:lnSpc>
              <a:spcBef>
                <a:spcPts val="0"/>
              </a:spcBef>
              <a:spcAft>
                <a:spcPts val="0"/>
              </a:spcAft>
              <a:buSzPts val="1900"/>
              <a:buChar char=" "/>
            </a:pPr>
            <a:r>
              <a:rPr b="1" lang="es-MX" sz="1900"/>
              <a:t>Problema:</a:t>
            </a:r>
            <a:endParaRPr sz="1900"/>
          </a:p>
          <a:p>
            <a:pPr indent="-120650" lvl="0" marL="91440" rtl="0" algn="l">
              <a:lnSpc>
                <a:spcPct val="90000"/>
              </a:lnSpc>
              <a:spcBef>
                <a:spcPts val="1400"/>
              </a:spcBef>
              <a:spcAft>
                <a:spcPts val="0"/>
              </a:spcAft>
              <a:buSzPts val="1900"/>
              <a:buFont typeface="Arial"/>
              <a:buChar char="•"/>
            </a:pPr>
            <a:r>
              <a:rPr b="1" lang="es-MX" sz="1900"/>
              <a:t>Heterogeneidad Semántica:</a:t>
            </a:r>
            <a:r>
              <a:rPr lang="es-MX" sz="1900"/>
              <a:t> Campos como "tipo de cliente" variaban ampliamente. En Banco A, se clasificaban como "retail" y "corporativo," mientras que Banco B usaba categorías como "individual" y "empresarial."</a:t>
            </a:r>
            <a:endParaRPr/>
          </a:p>
          <a:p>
            <a:pPr indent="-120650" lvl="0" marL="91440" rtl="0" algn="l">
              <a:lnSpc>
                <a:spcPct val="90000"/>
              </a:lnSpc>
              <a:spcBef>
                <a:spcPts val="1400"/>
              </a:spcBef>
              <a:spcAft>
                <a:spcPts val="0"/>
              </a:spcAft>
              <a:buSzPts val="1900"/>
              <a:buFont typeface="Arial"/>
              <a:buChar char="•"/>
            </a:pPr>
            <a:r>
              <a:rPr b="1" lang="es-MX" sz="1900"/>
              <a:t>Heterogeneidad Sintáctica:</a:t>
            </a:r>
            <a:r>
              <a:rPr lang="es-MX" sz="1900"/>
              <a:t> La estructura del CRM de Banco B no era compatible con el de Banco A. Por ejemplo, las transacciones se representaban como JSON anidado en Banco B, mientras que Banco A utilizaba tablas relacionales.</a:t>
            </a:r>
            <a:endParaRPr/>
          </a:p>
          <a:p>
            <a:pPr indent="0" lvl="0" marL="91440" rtl="0" algn="l">
              <a:lnSpc>
                <a:spcPct val="90000"/>
              </a:lnSpc>
              <a:spcBef>
                <a:spcPts val="1400"/>
              </a:spcBef>
              <a:spcAft>
                <a:spcPts val="0"/>
              </a:spcAft>
              <a:buSzPts val="1900"/>
              <a:buNone/>
            </a:pPr>
            <a:r>
              <a:t/>
            </a:r>
            <a:endParaRPr sz="1900"/>
          </a:p>
        </p:txBody>
      </p:sp>
      <p:sp>
        <p:nvSpPr>
          <p:cNvPr id="531" name="Google Shape;531;p37"/>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32" name="Google Shape;532;p37"/>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6" name="Shape 536"/>
        <p:cNvGrpSpPr/>
        <p:nvPr/>
      </p:nvGrpSpPr>
      <p:grpSpPr>
        <a:xfrm>
          <a:off x="0" y="0"/>
          <a:ext cx="0" cy="0"/>
          <a:chOff x="0" y="0"/>
          <a:chExt cx="0" cy="0"/>
        </a:xfrm>
      </p:grpSpPr>
      <p:sp>
        <p:nvSpPr>
          <p:cNvPr id="537" name="Google Shape;537;p38"/>
          <p:cNvSpPr/>
          <p:nvPr/>
        </p:nvSpPr>
        <p:spPr>
          <a:xfrm>
            <a:off x="0" y="1"/>
            <a:ext cx="12192000"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8" name="Google Shape;538;p38"/>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p38"/>
          <p:cNvSpPr txBox="1"/>
          <p:nvPr>
            <p:ph type="title"/>
          </p:nvPr>
        </p:nvSpPr>
        <p:spPr>
          <a:xfrm>
            <a:off x="5181601" y="634946"/>
            <a:ext cx="636814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Fusión de bancos y consolidación de datos</a:t>
            </a:r>
            <a:endParaRPr/>
          </a:p>
        </p:txBody>
      </p:sp>
      <p:pic>
        <p:nvPicPr>
          <p:cNvPr descr="Hombre sentado en una mesa&#10;&#10;Descripción generada automáticamente con confianza baja" id="540" name="Google Shape;540;p38"/>
          <p:cNvPicPr preferRelativeResize="0"/>
          <p:nvPr/>
        </p:nvPicPr>
        <p:blipFill rotWithShape="1">
          <a:blip r:embed="rId3">
            <a:alphaModFix/>
          </a:blip>
          <a:srcRect b="0" l="19967" r="41926" t="0"/>
          <a:stretch/>
        </p:blipFill>
        <p:spPr>
          <a:xfrm>
            <a:off x="20" y="-12128"/>
            <a:ext cx="4654276" cy="6870127"/>
          </a:xfrm>
          <a:prstGeom prst="rect">
            <a:avLst/>
          </a:prstGeom>
          <a:noFill/>
          <a:ln>
            <a:noFill/>
          </a:ln>
        </p:spPr>
      </p:pic>
      <p:cxnSp>
        <p:nvCxnSpPr>
          <p:cNvPr id="541" name="Google Shape;541;p38"/>
          <p:cNvCxnSpPr/>
          <p:nvPr/>
        </p:nvCxnSpPr>
        <p:spPr>
          <a:xfrm>
            <a:off x="5287617" y="2085703"/>
            <a:ext cx="6170686"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542" name="Google Shape;542;p38"/>
          <p:cNvSpPr txBox="1"/>
          <p:nvPr>
            <p:ph idx="1" type="body"/>
          </p:nvPr>
        </p:nvSpPr>
        <p:spPr>
          <a:xfrm>
            <a:off x="5181601" y="2198914"/>
            <a:ext cx="6368142" cy="367018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s-MX"/>
              <a:t>Impacto:</a:t>
            </a:r>
            <a:endParaRPr/>
          </a:p>
          <a:p>
            <a:pPr indent="-127000" lvl="0" marL="91440" rtl="0" algn="l">
              <a:lnSpc>
                <a:spcPct val="90000"/>
              </a:lnSpc>
              <a:spcBef>
                <a:spcPts val="1400"/>
              </a:spcBef>
              <a:spcAft>
                <a:spcPts val="0"/>
              </a:spcAft>
              <a:buSzPts val="2000"/>
              <a:buFont typeface="Arial"/>
              <a:buChar char="•"/>
            </a:pPr>
            <a:r>
              <a:rPr b="1" lang="es-MX"/>
              <a:t>Duplicación de Clientes:</a:t>
            </a:r>
            <a:r>
              <a:rPr lang="es-MX"/>
              <a:t> Clientes comunes a ambos bancos aparecían como entidades distintas, lo que causó confusión en las estrategias de marketing y riesgos en la gestión de créditos.</a:t>
            </a:r>
            <a:endParaRPr/>
          </a:p>
          <a:p>
            <a:pPr indent="-127000" lvl="0" marL="91440" rtl="0" algn="l">
              <a:lnSpc>
                <a:spcPct val="90000"/>
              </a:lnSpc>
              <a:spcBef>
                <a:spcPts val="1400"/>
              </a:spcBef>
              <a:spcAft>
                <a:spcPts val="0"/>
              </a:spcAft>
              <a:buSzPts val="2000"/>
              <a:buFont typeface="Arial"/>
              <a:buChar char="•"/>
            </a:pPr>
            <a:r>
              <a:rPr b="1" lang="es-MX"/>
              <a:t>Desacuerdo en Reportes Financieros:</a:t>
            </a:r>
            <a:r>
              <a:rPr lang="es-MX"/>
              <a:t> Diferencias en la forma de calcular el ingreso promedio por cliente afectaron los reportes consolidados, retrasando decisiones estratégicas clave.</a:t>
            </a:r>
            <a:endParaRPr/>
          </a:p>
          <a:p>
            <a:pPr indent="0" lvl="0" marL="91440" rtl="0" algn="l">
              <a:lnSpc>
                <a:spcPct val="90000"/>
              </a:lnSpc>
              <a:spcBef>
                <a:spcPts val="1400"/>
              </a:spcBef>
              <a:spcAft>
                <a:spcPts val="0"/>
              </a:spcAft>
              <a:buSzPts val="20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6" name="Shape 546"/>
        <p:cNvGrpSpPr/>
        <p:nvPr/>
      </p:nvGrpSpPr>
      <p:grpSpPr>
        <a:xfrm>
          <a:off x="0" y="0"/>
          <a:ext cx="0" cy="0"/>
          <a:chOff x="0" y="0"/>
          <a:chExt cx="0" cy="0"/>
        </a:xfrm>
      </p:grpSpPr>
      <p:sp>
        <p:nvSpPr>
          <p:cNvPr id="547" name="Google Shape;547;p39"/>
          <p:cNvSpPr/>
          <p:nvPr/>
        </p:nvSpPr>
        <p:spPr>
          <a:xfrm>
            <a:off x="3175" y="6400800"/>
            <a:ext cx="12188825"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48" name="Google Shape;548;p39"/>
          <p:cNvSpPr/>
          <p:nvPr/>
        </p:nvSpPr>
        <p:spPr>
          <a:xfrm>
            <a:off x="15" y="6334316"/>
            <a:ext cx="12188825" cy="6400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549" name="Google Shape;549;p39"/>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550" name="Google Shape;550;p39"/>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51" name="Google Shape;551;p39"/>
          <p:cNvCxnSpPr/>
          <p:nvPr/>
        </p:nvCxnSpPr>
        <p:spPr>
          <a:xfrm>
            <a:off x="3944603" y="4325112"/>
            <a:ext cx="7132320" cy="0"/>
          </a:xfrm>
          <a:prstGeom prst="straightConnector1">
            <a:avLst/>
          </a:prstGeom>
          <a:noFill/>
          <a:ln cap="flat" cmpd="sng" w="9525">
            <a:solidFill>
              <a:srgbClr val="7F7F7F"/>
            </a:solidFill>
            <a:prstDash val="solid"/>
            <a:round/>
            <a:headEnd len="sm" w="sm" type="none"/>
            <a:tailEnd len="sm" w="sm" type="none"/>
          </a:ln>
        </p:spPr>
      </p:cxnSp>
      <p:sp>
        <p:nvSpPr>
          <p:cNvPr id="552" name="Google Shape;552;p39"/>
          <p:cNvSpPr txBox="1"/>
          <p:nvPr>
            <p:ph type="title"/>
          </p:nvPr>
        </p:nvSpPr>
        <p:spPr>
          <a:xfrm>
            <a:off x="3836504" y="758952"/>
            <a:ext cx="7319175"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s-MX" sz="8000">
                <a:solidFill>
                  <a:srgbClr val="262626"/>
                </a:solidFill>
              </a:rPr>
              <a:t>Solución implementada</a:t>
            </a:r>
            <a:endParaRPr sz="8000">
              <a:solidFill>
                <a:srgbClr val="262626"/>
              </a:solidFill>
            </a:endParaRPr>
          </a:p>
        </p:txBody>
      </p:sp>
      <p:pic>
        <p:nvPicPr>
          <p:cNvPr descr="Marca de verificación" id="553" name="Google Shape;553;p39"/>
          <p:cNvPicPr preferRelativeResize="0"/>
          <p:nvPr/>
        </p:nvPicPr>
        <p:blipFill rotWithShape="1">
          <a:blip r:embed="rId3">
            <a:alphaModFix/>
          </a:blip>
          <a:srcRect b="0" l="0" r="0" t="0"/>
          <a:stretch/>
        </p:blipFill>
        <p:spPr>
          <a:xfrm>
            <a:off x="929818" y="1944907"/>
            <a:ext cx="2449486" cy="2449486"/>
          </a:xfrm>
          <a:prstGeom prst="rect">
            <a:avLst/>
          </a:prstGeom>
          <a:noFill/>
          <a:ln>
            <a:noFill/>
          </a:ln>
        </p:spPr>
      </p:pic>
      <p:sp>
        <p:nvSpPr>
          <p:cNvPr id="554" name="Google Shape;554;p39"/>
          <p:cNvSpPr/>
          <p:nvPr/>
        </p:nvSpPr>
        <p:spPr>
          <a:xfrm>
            <a:off x="0" y="6334316"/>
            <a:ext cx="12192001" cy="6599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55" name="Google Shape;555;p39"/>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40"/>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1" name="Google Shape;561;p40"/>
          <p:cNvSpPr txBox="1"/>
          <p:nvPr>
            <p:ph type="title"/>
          </p:nvPr>
        </p:nvSpPr>
        <p:spPr>
          <a:xfrm>
            <a:off x="4974771" y="634946"/>
            <a:ext cx="6574972"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Fusión de bancos y consolidación de datos</a:t>
            </a:r>
            <a:endParaRPr/>
          </a:p>
        </p:txBody>
      </p:sp>
      <p:cxnSp>
        <p:nvCxnSpPr>
          <p:cNvPr id="562" name="Google Shape;562;p40"/>
          <p:cNvCxnSpPr/>
          <p:nvPr/>
        </p:nvCxnSpPr>
        <p:spPr>
          <a:xfrm>
            <a:off x="4974770" y="2086188"/>
            <a:ext cx="6089768" cy="0"/>
          </a:xfrm>
          <a:prstGeom prst="straightConnector1">
            <a:avLst/>
          </a:prstGeom>
          <a:noFill/>
          <a:ln cap="flat" cmpd="sng" w="9525">
            <a:solidFill>
              <a:srgbClr val="7F7F7F">
                <a:alpha val="89803"/>
              </a:srgbClr>
            </a:solidFill>
            <a:prstDash val="solid"/>
            <a:round/>
            <a:headEnd len="sm" w="sm" type="none"/>
            <a:tailEnd len="sm" w="sm" type="none"/>
          </a:ln>
        </p:spPr>
      </p:cxnSp>
      <p:sp>
        <p:nvSpPr>
          <p:cNvPr id="563" name="Google Shape;563;p40"/>
          <p:cNvSpPr txBox="1"/>
          <p:nvPr>
            <p:ph idx="1" type="body"/>
          </p:nvPr>
        </p:nvSpPr>
        <p:spPr>
          <a:xfrm>
            <a:off x="4974769" y="2198914"/>
            <a:ext cx="6574973" cy="367018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s-MX"/>
              <a:t>Solución Implementada:</a:t>
            </a:r>
            <a:endParaRPr/>
          </a:p>
          <a:p>
            <a:pPr indent="-457200" lvl="0" marL="457200" rtl="0" algn="l">
              <a:lnSpc>
                <a:spcPct val="90000"/>
              </a:lnSpc>
              <a:spcBef>
                <a:spcPts val="1400"/>
              </a:spcBef>
              <a:spcAft>
                <a:spcPts val="0"/>
              </a:spcAft>
              <a:buSzPts val="2000"/>
              <a:buFont typeface="Calibri"/>
              <a:buAutoNum type="arabicPeriod"/>
            </a:pPr>
            <a:r>
              <a:rPr lang="es-MX"/>
              <a:t>Se diseñó un modelo canónico para unificar las definiciones de datos entre los bancos.</a:t>
            </a:r>
            <a:endParaRPr/>
          </a:p>
          <a:p>
            <a:pPr indent="-457200" lvl="0" marL="457200" rtl="0" algn="l">
              <a:lnSpc>
                <a:spcPct val="90000"/>
              </a:lnSpc>
              <a:spcBef>
                <a:spcPts val="1400"/>
              </a:spcBef>
              <a:spcAft>
                <a:spcPts val="0"/>
              </a:spcAft>
              <a:buSzPts val="2000"/>
              <a:buFont typeface="Calibri"/>
              <a:buAutoNum type="arabicPeriod"/>
            </a:pPr>
            <a:r>
              <a:rPr lang="es-MX"/>
              <a:t>Se implementaron procesos ETL para transformar los datos de ambos sistemas hacia un único formato estándar.</a:t>
            </a:r>
            <a:endParaRPr/>
          </a:p>
          <a:p>
            <a:pPr indent="-457200" lvl="0" marL="457200" rtl="0" algn="l">
              <a:lnSpc>
                <a:spcPct val="90000"/>
              </a:lnSpc>
              <a:spcBef>
                <a:spcPts val="1400"/>
              </a:spcBef>
              <a:spcAft>
                <a:spcPts val="0"/>
              </a:spcAft>
              <a:buSzPts val="2000"/>
              <a:buFont typeface="Calibri"/>
              <a:buAutoNum type="arabicPeriod"/>
            </a:pPr>
            <a:r>
              <a:rPr lang="es-MX"/>
              <a:t>Un middleware de integración permitió acceder a los datos desde ambas plataformas mientras se completaba la transición al sistema consolidado.</a:t>
            </a:r>
            <a:endParaRPr/>
          </a:p>
        </p:txBody>
      </p:sp>
      <p:sp>
        <p:nvSpPr>
          <p:cNvPr id="564" name="Google Shape;564;p40"/>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65" name="Google Shape;565;p40"/>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descr="Usuarios con relleno sólido" id="566" name="Google Shape;566;p40"/>
          <p:cNvPicPr preferRelativeResize="0"/>
          <p:nvPr/>
        </p:nvPicPr>
        <p:blipFill rotWithShape="1">
          <a:blip r:embed="rId3">
            <a:alphaModFix/>
          </a:blip>
          <a:srcRect b="0" l="0" r="0" t="0"/>
          <a:stretch/>
        </p:blipFill>
        <p:spPr>
          <a:xfrm>
            <a:off x="786399" y="1315929"/>
            <a:ext cx="4001315" cy="400131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p41"/>
          <p:cNvSpPr/>
          <p:nvPr/>
        </p:nvSpPr>
        <p:spPr>
          <a:xfrm>
            <a:off x="3175" y="6400800"/>
            <a:ext cx="12188825"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72" name="Google Shape;572;p41"/>
          <p:cNvSpPr/>
          <p:nvPr/>
        </p:nvSpPr>
        <p:spPr>
          <a:xfrm>
            <a:off x="15" y="6334316"/>
            <a:ext cx="12188825" cy="6400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cxnSp>
        <p:nvCxnSpPr>
          <p:cNvPr id="573" name="Google Shape;573;p4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
        <p:nvSpPr>
          <p:cNvPr id="574" name="Google Shape;574;p41"/>
          <p:cNvSpPr/>
          <p:nvPr/>
        </p:nvSpPr>
        <p:spPr>
          <a:xfrm>
            <a:off x="0" y="0"/>
            <a:ext cx="12192001" cy="63343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5" name="Google Shape;575;p41"/>
          <p:cNvSpPr txBox="1"/>
          <p:nvPr>
            <p:ph type="title"/>
          </p:nvPr>
        </p:nvSpPr>
        <p:spPr>
          <a:xfrm>
            <a:off x="5289754" y="639097"/>
            <a:ext cx="6253317" cy="3686015"/>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lang="es-MX" sz="8000">
                <a:solidFill>
                  <a:srgbClr val="262626"/>
                </a:solidFill>
              </a:rPr>
              <a:t>Otros estudios de casos</a:t>
            </a:r>
            <a:endParaRPr sz="8000">
              <a:solidFill>
                <a:srgbClr val="262626"/>
              </a:solidFill>
            </a:endParaRPr>
          </a:p>
        </p:txBody>
      </p:sp>
      <p:pic>
        <p:nvPicPr>
          <p:cNvPr descr="Books" id="576" name="Google Shape;576;p41"/>
          <p:cNvPicPr preferRelativeResize="0"/>
          <p:nvPr/>
        </p:nvPicPr>
        <p:blipFill rotWithShape="1">
          <a:blip r:embed="rId3">
            <a:alphaModFix/>
          </a:blip>
          <a:srcRect b="0" l="0" r="0" t="0"/>
          <a:stretch/>
        </p:blipFill>
        <p:spPr>
          <a:xfrm>
            <a:off x="633999" y="1163529"/>
            <a:ext cx="4001315" cy="4001315"/>
          </a:xfrm>
          <a:prstGeom prst="rect">
            <a:avLst/>
          </a:prstGeom>
          <a:noFill/>
          <a:ln>
            <a:noFill/>
          </a:ln>
        </p:spPr>
      </p:pic>
      <p:cxnSp>
        <p:nvCxnSpPr>
          <p:cNvPr id="577" name="Google Shape;577;p41"/>
          <p:cNvCxnSpPr/>
          <p:nvPr/>
        </p:nvCxnSpPr>
        <p:spPr>
          <a:xfrm>
            <a:off x="5447071" y="4343400"/>
            <a:ext cx="5636107" cy="0"/>
          </a:xfrm>
          <a:prstGeom prst="straightConnector1">
            <a:avLst/>
          </a:prstGeom>
          <a:noFill/>
          <a:ln cap="flat" cmpd="sng" w="9525">
            <a:solidFill>
              <a:schemeClr val="dk2">
                <a:alpha val="89803"/>
              </a:schemeClr>
            </a:solidFill>
            <a:prstDash val="solid"/>
            <a:round/>
            <a:headEnd len="sm" w="sm" type="none"/>
            <a:tailEnd len="sm" w="sm" type="none"/>
          </a:ln>
        </p:spPr>
      </p:cxnSp>
      <p:sp>
        <p:nvSpPr>
          <p:cNvPr id="578" name="Google Shape;578;p41"/>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79" name="Google Shape;579;p41"/>
          <p:cNvSpPr/>
          <p:nvPr/>
        </p:nvSpPr>
        <p:spPr>
          <a:xfrm>
            <a:off x="1" y="6400800"/>
            <a:ext cx="12192000" cy="457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2"/>
          <p:cNvSpPr txBox="1"/>
          <p:nvPr>
            <p:ph type="title"/>
          </p:nvPr>
        </p:nvSpPr>
        <p:spPr>
          <a:xfrm>
            <a:off x="1066800" y="240452"/>
            <a:ext cx="10058400" cy="74845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Spread of contagious diseases</a:t>
            </a:r>
            <a:endParaRPr/>
          </a:p>
        </p:txBody>
      </p:sp>
      <p:sp>
        <p:nvSpPr>
          <p:cNvPr id="585" name="Google Shape;585;p42"/>
          <p:cNvSpPr txBox="1"/>
          <p:nvPr>
            <p:ph idx="1" type="body"/>
          </p:nvPr>
        </p:nvSpPr>
        <p:spPr>
          <a:xfrm>
            <a:off x="1097280" y="1071716"/>
            <a:ext cx="10058400" cy="4797378"/>
          </a:xfrm>
          <a:prstGeom prst="rect">
            <a:avLst/>
          </a:prstGeom>
          <a:solidFill>
            <a:schemeClr val="lt1"/>
          </a:solidFill>
          <a:ln>
            <a:noFill/>
          </a:ln>
        </p:spPr>
        <p:txBody>
          <a:bodyPr anchorCtr="0" anchor="t" bIns="45700" lIns="0" spcFirstLastPara="1" rIns="0" wrap="square" tIns="45700">
            <a:normAutofit fontScale="92500" lnSpcReduction="10000"/>
          </a:bodyPr>
          <a:lstStyle/>
          <a:p>
            <a:pPr indent="-117475" lvl="0" marL="91440" rtl="0" algn="just">
              <a:lnSpc>
                <a:spcPct val="90000"/>
              </a:lnSpc>
              <a:spcBef>
                <a:spcPts val="0"/>
              </a:spcBef>
              <a:spcAft>
                <a:spcPts val="0"/>
              </a:spcAft>
              <a:buSzPct val="100000"/>
              <a:buChar char=" "/>
            </a:pPr>
            <a:r>
              <a:rPr lang="es-MX"/>
              <a:t>By integrating legacy data with social media data, health organizations can make better predictions about the spread of contagious diseases  — and thus make more informed decisions to protect public health. Even a day or two saved in getting vaccines to the right location or implementing a quarantine can make a huge difference in limiting the extent of a health crisis.</a:t>
            </a:r>
            <a:endParaRPr/>
          </a:p>
          <a:p>
            <a:pPr indent="-117475" lvl="0" marL="91440" rtl="0" algn="just">
              <a:lnSpc>
                <a:spcPct val="90000"/>
              </a:lnSpc>
              <a:spcBef>
                <a:spcPts val="1400"/>
              </a:spcBef>
              <a:spcAft>
                <a:spcPts val="0"/>
              </a:spcAft>
              <a:buSzPct val="100000"/>
              <a:buChar char=" "/>
            </a:pPr>
            <a:r>
              <a:rPr lang="es-MX"/>
              <a:t>Very recently, researchers at a renowned East-Coast university experimented with a new approach aimed at providing more immediate information about the current status of flu infections. Rather than relying on traditional data sources, the researchers used advanced algorithms to look at unstructured data from Twitter feeds. The researchers analyzed hundreds of thousands of tweets to determine locations where people had the flu. This social media data provided an up-to-the-minute and predictive look at where the flu was spreading at a particular point in time. Without integrating the new types of data from social media with the existing legacy data, it simply wouldn’t be possible to gain this quick insight.</a:t>
            </a:r>
            <a:endParaRPr/>
          </a:p>
          <a:p>
            <a:pPr indent="-117475" lvl="0" marL="91440" rtl="0" algn="just">
              <a:lnSpc>
                <a:spcPct val="90000"/>
              </a:lnSpc>
              <a:spcBef>
                <a:spcPts val="1400"/>
              </a:spcBef>
              <a:spcAft>
                <a:spcPts val="0"/>
              </a:spcAft>
              <a:buSzPct val="100000"/>
              <a:buChar char=" "/>
            </a:pPr>
            <a:r>
              <a:rPr lang="es-MX"/>
              <a:t>In the past, the data that’s been available for tracking flu outbreaks has been traditional, legacy type data that only tells you what happened after the fact — and after the data has been collected and analyzed. In other words, you can see what has happened in various parts of the country, but because the information is at least several weeks old, it’s not very useful for predicting where you’ll need to send additional supplies of flu vaccine or where you’ll need to ramp up staffing levels at clinics and hospitals in order to stem the epidemic.</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3"/>
          <p:cNvSpPr txBox="1"/>
          <p:nvPr>
            <p:ph type="title"/>
          </p:nvPr>
        </p:nvSpPr>
        <p:spPr>
          <a:xfrm>
            <a:off x="1066800" y="240452"/>
            <a:ext cx="10058400" cy="74845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Government</a:t>
            </a:r>
            <a:endParaRPr/>
          </a:p>
        </p:txBody>
      </p:sp>
      <p:sp>
        <p:nvSpPr>
          <p:cNvPr id="591" name="Google Shape;591;p43"/>
          <p:cNvSpPr txBox="1"/>
          <p:nvPr>
            <p:ph idx="1" type="body"/>
          </p:nvPr>
        </p:nvSpPr>
        <p:spPr>
          <a:xfrm>
            <a:off x="1097280" y="1071716"/>
            <a:ext cx="10058400" cy="4797378"/>
          </a:xfrm>
          <a:prstGeom prst="rect">
            <a:avLst/>
          </a:prstGeom>
          <a:solidFill>
            <a:schemeClr val="lt1"/>
          </a:solidFill>
          <a:ln>
            <a:noFill/>
          </a:ln>
        </p:spPr>
        <p:txBody>
          <a:bodyPr anchorCtr="0" anchor="t" bIns="45700" lIns="0" spcFirstLastPara="1" rIns="0" wrap="square" tIns="45700">
            <a:normAutofit lnSpcReduction="10000"/>
          </a:bodyPr>
          <a:lstStyle/>
          <a:p>
            <a:pPr indent="-127000" lvl="0" marL="91440" rtl="0" algn="just">
              <a:lnSpc>
                <a:spcPct val="90000"/>
              </a:lnSpc>
              <a:spcBef>
                <a:spcPts val="0"/>
              </a:spcBef>
              <a:spcAft>
                <a:spcPts val="0"/>
              </a:spcAft>
              <a:buSzPts val="2000"/>
              <a:buChar char=" "/>
            </a:pPr>
            <a:r>
              <a:rPr lang="es-MX"/>
              <a:t>Governmental organizations aren’t immune to the need to leverage data in new ways, either. Tight budgets mean that more efficiency is vital to providing services with the limited available resources. Data integration makes it possible for government departments to make the best use of both data and funding.</a:t>
            </a:r>
            <a:endParaRPr/>
          </a:p>
          <a:p>
            <a:pPr indent="-127000" lvl="0" marL="91440" rtl="0" algn="just">
              <a:lnSpc>
                <a:spcPct val="90000"/>
              </a:lnSpc>
              <a:spcBef>
                <a:spcPts val="1400"/>
              </a:spcBef>
              <a:spcAft>
                <a:spcPts val="0"/>
              </a:spcAft>
              <a:buSzPts val="2000"/>
              <a:buChar char=" "/>
            </a:pPr>
            <a:r>
              <a:rPr lang="es-MX"/>
              <a:t>Consider a state transportation department with thousands of miles of roads and bridges. Its transportation system is recognized as one of the most accessible, efficient, and safe systems in the United States; however, the same could not be said of the IT infrastructure that supported the state department of transportation’s (DOT’s) financial, construction, maintenance, and traffic safety programs. Most of the agency’s information systems  — some dating to the late 1970s — were based on a legacy mainframe and a rather old-fashioned database, with a highly indexed, hierarchical data structure at odds with modern relational data systems. Using that legacy data was very difficult, and trying to combine it with modern data efficiently was almost impossible.</a:t>
            </a:r>
            <a:endParaRPr/>
          </a:p>
          <a:p>
            <a:pPr indent="-127000" lvl="0" marL="91440" rtl="0" algn="just">
              <a:lnSpc>
                <a:spcPct val="90000"/>
              </a:lnSpc>
              <a:spcBef>
                <a:spcPts val="1400"/>
              </a:spcBef>
              <a:spcAft>
                <a:spcPts val="0"/>
              </a:spcAft>
              <a:buSzPts val="2000"/>
              <a:buChar char=" "/>
            </a:pPr>
            <a:r>
              <a:rPr lang="es-MX"/>
              <a:t>Streamlining the data integration process was vital in enabling the DOT to rapidly realize its primary objectives. Modern data integration tools made it possible to quickly combine the legacy data and the newer data sources into valuable information that would make sound decision making possible.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s-MX"/>
              <a:t>Referencias</a:t>
            </a:r>
            <a:endParaRPr/>
          </a:p>
        </p:txBody>
      </p:sp>
      <p:sp>
        <p:nvSpPr>
          <p:cNvPr id="597" name="Google Shape;597;p4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just">
              <a:lnSpc>
                <a:spcPct val="90000"/>
              </a:lnSpc>
              <a:spcBef>
                <a:spcPts val="0"/>
              </a:spcBef>
              <a:spcAft>
                <a:spcPts val="0"/>
              </a:spcAft>
              <a:buSzPct val="100000"/>
              <a:buFont typeface="Arial"/>
              <a:buChar char="•"/>
            </a:pPr>
            <a:r>
              <a:rPr lang="es-MX"/>
              <a:t>Batini, C., Lenzerini, M., &amp; Navathe, S. B. (1986). A comparative analysis of methodologies for database schema integration. ACM Computing Surveys, 18(4), 323-364.</a:t>
            </a:r>
            <a:endParaRPr/>
          </a:p>
          <a:p>
            <a:pPr indent="-117475" lvl="0" marL="91440" rtl="0" algn="just">
              <a:lnSpc>
                <a:spcPct val="90000"/>
              </a:lnSpc>
              <a:spcBef>
                <a:spcPts val="1400"/>
              </a:spcBef>
              <a:spcAft>
                <a:spcPts val="0"/>
              </a:spcAft>
              <a:buSzPct val="100000"/>
              <a:buFont typeface="Arial"/>
              <a:buChar char="•"/>
            </a:pPr>
            <a:r>
              <a:rPr lang="es-MX"/>
              <a:t>Doan, A., Halevy, A., &amp; Ives, Z. (2012). Principles of Data Integration. Elsevier.</a:t>
            </a:r>
            <a:endParaRPr/>
          </a:p>
          <a:p>
            <a:pPr indent="-117475" lvl="0" marL="91440" rtl="0" algn="just">
              <a:lnSpc>
                <a:spcPct val="90000"/>
              </a:lnSpc>
              <a:spcBef>
                <a:spcPts val="1400"/>
              </a:spcBef>
              <a:spcAft>
                <a:spcPts val="0"/>
              </a:spcAft>
              <a:buSzPct val="100000"/>
              <a:buFont typeface="Arial"/>
              <a:buChar char="•"/>
            </a:pPr>
            <a:r>
              <a:rPr lang="es-MX"/>
              <a:t>Lenzerini, M. (2002). Data integration: A theoretical perspective. Proceedings of the ACM Symposium on Principles of Database Systems (PODS), 233-246.</a:t>
            </a:r>
            <a:endParaRPr/>
          </a:p>
          <a:p>
            <a:pPr indent="-117475" lvl="0" marL="91440" rtl="0" algn="just">
              <a:lnSpc>
                <a:spcPct val="90000"/>
              </a:lnSpc>
              <a:spcBef>
                <a:spcPts val="1400"/>
              </a:spcBef>
              <a:spcAft>
                <a:spcPts val="0"/>
              </a:spcAft>
              <a:buSzPct val="100000"/>
              <a:buFont typeface="Arial"/>
              <a:buChar char="•"/>
            </a:pPr>
            <a:r>
              <a:rPr lang="es-MX"/>
              <a:t>Rahm, E., &amp; Do, H. H. (2000). Data Cleaning: Problems and Current Approaches. IEEE Data Engineering Bulletin, 23(4), 3-13.</a:t>
            </a:r>
            <a:endParaRPr/>
          </a:p>
          <a:p>
            <a:pPr indent="-117475" lvl="0" marL="91440" rtl="0" algn="just">
              <a:lnSpc>
                <a:spcPct val="90000"/>
              </a:lnSpc>
              <a:spcBef>
                <a:spcPts val="1400"/>
              </a:spcBef>
              <a:spcAft>
                <a:spcPts val="0"/>
              </a:spcAft>
              <a:buSzPct val="100000"/>
              <a:buFont typeface="Arial"/>
              <a:buChar char="•"/>
            </a:pPr>
            <a:r>
              <a:rPr lang="es-MX"/>
              <a:t>Halevy, A., Rajaraman, A., &amp; Ordille, J. (2006). Data integration: The teenage years. Proceedings of the 32nd International Conference on Very Large Data Bases (VLDB), 9-16.</a:t>
            </a:r>
            <a:endParaRPr/>
          </a:p>
          <a:p>
            <a:pPr indent="-117475" lvl="0" marL="91440" rtl="0" algn="just">
              <a:lnSpc>
                <a:spcPct val="90000"/>
              </a:lnSpc>
              <a:spcBef>
                <a:spcPts val="1400"/>
              </a:spcBef>
              <a:spcAft>
                <a:spcPts val="0"/>
              </a:spcAft>
              <a:buSzPct val="100000"/>
              <a:buFont typeface="Arial"/>
              <a:buChar char="•"/>
            </a:pPr>
            <a:r>
              <a:rPr lang="es-MX"/>
              <a:t>Bernstein, P. A., &amp; Rahm, E. (2001). Data warehouse systems: architecture and methods. ACM SIGMOD Record, 30(2), 6-15.</a:t>
            </a:r>
            <a:endParaRPr/>
          </a:p>
          <a:p>
            <a:pPr indent="-117475" lvl="0" marL="91440" rtl="0" algn="just">
              <a:lnSpc>
                <a:spcPct val="90000"/>
              </a:lnSpc>
              <a:spcBef>
                <a:spcPts val="1400"/>
              </a:spcBef>
              <a:spcAft>
                <a:spcPts val="0"/>
              </a:spcAft>
              <a:buSzPct val="100000"/>
              <a:buFont typeface="Arial"/>
              <a:buChar char="•"/>
            </a:pPr>
            <a:r>
              <a:rPr lang="es-MX"/>
              <a:t>Gagnon, M. (2007). Ontology-based integration of data sources. Information Fusion, 8(1), 33-46.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ción">
  <a:themeElements>
    <a:clrScheme name="Retrospección">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trospección">
  <a:themeElements>
    <a:clrScheme name="Retrospección">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2024-11-29T01:27:56Z</dcterms:created>
  <dc:creator>VICTOR MANUEL CORZA VARGAS</dc:creator>
</cp:coreProperties>
</file>